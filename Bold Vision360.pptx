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7" r:id="rId2"/>
    <p:sldId id="436" r:id="rId3"/>
    <p:sldId id="433" r:id="rId4"/>
    <p:sldId id="434" r:id="rId5"/>
    <p:sldId id="432" r:id="rId6"/>
    <p:sldId id="427" r:id="rId7"/>
    <p:sldId id="435" r:id="rId8"/>
    <p:sldId id="256" r:id="rId9"/>
    <p:sldId id="297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MiSans VF Regular"/>
        <a:ea typeface="MiSans VF Regular"/>
        <a:cs typeface="MiSans VF Regular"/>
        <a:sym typeface="MiSans VF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4C1B"/>
    <a:srgbClr val="FF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5184" autoAdjust="0"/>
  </p:normalViewPr>
  <p:slideViewPr>
    <p:cSldViewPr snapToGrid="0">
      <p:cViewPr varScale="1">
        <p:scale>
          <a:sx n="62" d="100"/>
          <a:sy n="62" d="100"/>
        </p:scale>
        <p:origin x="7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在职听障骑手（人）</c:v>
          </c:tx>
          <c:spPr>
            <a:solidFill>
              <a:srgbClr val="F7C95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28A95"/>
              </a:solidFill>
            </c:spPr>
            <c:extLst>
              <c:ext xmlns:c16="http://schemas.microsoft.com/office/drawing/2014/chart" uri="{C3380CC4-5D6E-409C-BE32-E72D297353CC}">
                <c16:uniqueId val="{00000001-6E9A-4DFF-95F3-8365E9AD3B7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9A-4DFF-95F3-8365E9AD3B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5F8FA"/>
                    </a:solidFill>
                    <a:latin typeface="Noto Sans CJK SC"/>
                    <a:ea typeface="Noto Sans CJK SC"/>
                    <a:cs typeface="Noto Sans CJK SC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2024年11月</c:v>
                </c:pt>
                <c:pt idx="1">
                  <c:v>2025年底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6758</c:v>
                </c:pt>
                <c:pt idx="1">
                  <c:v>12000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E9A-4DFF-95F3-8365E9AD3B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293A4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293A46"/>
            </a:solidFill>
          </a:ln>
        </c:spPr>
        <c:txPr>
          <a:bodyPr anchorCtr="1"/>
          <a:lstStyle/>
          <a:p>
            <a:pPr>
              <a:defRPr sz="9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125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ln w="0">
          <a:noFill/>
        </a:ln>
      </c:spPr>
    </c:plotArea>
    <c:plotVisOnly val="1"/>
    <c:dispBlanksAs val="zero"/>
    <c:showDLblsOverMax val="1"/>
  </c:chart>
  <c:spPr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栖霞区就业年龄段持证残疾人</c:v>
          </c:tx>
          <c:dPt>
            <c:idx val="0"/>
            <c:bubble3D val="0"/>
            <c:spPr>
              <a:solidFill>
                <a:srgbClr val="6AD9DF"/>
              </a:solidFill>
            </c:spPr>
            <c:extLst>
              <c:ext xmlns:c16="http://schemas.microsoft.com/office/drawing/2014/chart" uri="{C3380CC4-5D6E-409C-BE32-E72D297353CC}">
                <c16:uniqueId val="{00000001-61E8-420D-93B1-7B787FA452AC}"/>
              </c:ext>
            </c:extLst>
          </c:dPt>
          <c:dPt>
            <c:idx val="1"/>
            <c:bubble3D val="0"/>
            <c:spPr>
              <a:solidFill>
                <a:srgbClr val="405460"/>
              </a:solidFill>
            </c:spPr>
            <c:extLst>
              <c:ext xmlns:c16="http://schemas.microsoft.com/office/drawing/2014/chart" uri="{C3380CC4-5D6E-409C-BE32-E72D297353CC}">
                <c16:uniqueId val="{00000003-61E8-420D-93B1-7B787FA452AC}"/>
              </c:ext>
            </c:extLst>
          </c:dPt>
          <c:cat>
            <c:strRef>
              <c:f>'Chart Data'!$A$2:$A$3</c:f>
              <c:strCache>
                <c:ptCount val="2"/>
                <c:pt idx="0">
                  <c:v>已就业</c:v>
                </c:pt>
                <c:pt idx="1">
                  <c:v>未就业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2223</c:v>
                </c:pt>
                <c:pt idx="1">
                  <c:v>1901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E8-420D-93B1-7B787FA45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3"/>
      </c:doughnutChart>
      <c:spPr>
        <a:ln w="0">
          <a:noFill/>
        </a:ln>
      </c:spPr>
    </c:plotArea>
    <c:plotVisOnly val="1"/>
    <c:dispBlanksAs val="zero"/>
    <c:showDLblsOverMax val="1"/>
  </c:chart>
  <c:spPr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hape 21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1pPr>
    <a:lvl2pPr indent="2286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2pPr>
    <a:lvl3pPr indent="4572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3pPr>
    <a:lvl4pPr indent="6858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4pPr>
    <a:lvl5pPr indent="9144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5pPr>
    <a:lvl6pPr indent="11430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6pPr>
    <a:lvl7pPr indent="13716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7pPr>
    <a:lvl8pPr indent="16002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8pPr>
    <a:lvl9pPr indent="1828800" defTabSz="457200" latinLnBrk="0">
      <a:lnSpc>
        <a:spcPct val="118000"/>
      </a:lnSpc>
      <a:defRPr sz="2200">
        <a:latin typeface="MiSans VF Regular"/>
        <a:ea typeface="MiSans VF Regular"/>
        <a:cs typeface="MiSans VF Regular"/>
        <a:sym typeface="MiSans VF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稿（约25秒）：送单途中，他停在路边找门牌。后面的车按了喇叭，他没有回头。这样的工作现场，还关系到其他有就业意愿的听障者。许多人能完成岗位任务，却需要更友好的沟通方式和方向提醒。我们希望把视线之外的信息转成可见提示，帮助他们进入更多工作场景。左侧骑手照片为AI生成的情境示意；右侧为2014年9月20日北京市残疾人联合会第十一届聋人就业专场招聘洽谈会现场实拍，呈现与会求职者背影，来源：北京市残疾人联合会 https://www.bdpf.org.cn/n1544/n3223/n3258/c90553/content.html 。右侧照片不代表就业统计人数，此处未主张实际就业效果。演示稿公开传播前，请确认新闻照片的转载使用权限。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DDF9-DF55-23F9-17D4-1103D0CE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F92A3A-B6D5-9E69-F49C-65E1DF7B9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E8E38C-4C57-24F5-9603-DEDCA2B98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把需求展示出来，非常直观让评委能够马上</a:t>
            </a:r>
            <a:r>
              <a:rPr kumimoji="1" lang="en-US" altLang="zh-CN" dirty="0"/>
              <a:t>get</a:t>
            </a:r>
            <a:r>
              <a:rPr kumimoji="1" lang="zh-CN" altLang="en-US" dirty="0"/>
              <a:t>到</a:t>
            </a:r>
          </a:p>
        </p:txBody>
      </p:sp>
    </p:spTree>
    <p:extLst>
      <p:ext uri="{BB962C8B-B14F-4D97-AF65-F5344CB8AC3E}">
        <p14:creationId xmlns:p14="http://schemas.microsoft.com/office/powerpoint/2010/main" val="328184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记录与分享不同时期的历史变化，总结核心历史演进路线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F29E-18CE-95C4-A5D8-4361345D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56BF8-DF99-DB39-1EDE-7FAC10984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25ABBE-1E7D-E892-391D-7AE37CD24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把需求展示出来，非常直观让评委能够马上</a:t>
            </a:r>
            <a:r>
              <a:rPr kumimoji="1" lang="en-US" altLang="zh-CN" dirty="0"/>
              <a:t>get</a:t>
            </a:r>
            <a:r>
              <a:rPr kumimoji="1" lang="zh-CN" altLang="en-US" dirty="0"/>
              <a:t>到</a:t>
            </a:r>
          </a:p>
        </p:txBody>
      </p:sp>
    </p:spTree>
    <p:extLst>
      <p:ext uri="{BB962C8B-B14F-4D97-AF65-F5344CB8AC3E}">
        <p14:creationId xmlns:p14="http://schemas.microsoft.com/office/powerpoint/2010/main" val="208585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660400">
              <a:lnSpc>
                <a:spcPct val="100000"/>
              </a:lnSpc>
              <a:spcBef>
                <a:spcPts val="0"/>
              </a:spcBef>
              <a:buSzTx/>
              <a:buNone/>
              <a:defRPr sz="288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16320" y="13049198"/>
            <a:ext cx="351360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绿色丘陵景观"/>
          <p:cNvSpPr>
            <a:spLocks noGrp="1"/>
          </p:cNvSpPr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660400">
              <a:lnSpc>
                <a:spcPct val="100000"/>
              </a:lnSpc>
              <a:spcBef>
                <a:spcPts val="0"/>
              </a:spcBef>
              <a:buSzTx/>
              <a:buNone/>
              <a:defRPr sz="288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5pPr>
          </a:lstStyle>
          <a:p>
            <a:r>
              <a:t>演示文稿副标题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MiSans VF Heavy"/>
              </a:defRPr>
            </a:lvl5pPr>
          </a:lstStyle>
          <a:p>
            <a:r>
              <a:t>幻灯片副标题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苔藓覆盖的岩石"/>
          <p:cNvSpPr>
            <a:spLocks noGrp="1"/>
          </p:cNvSpPr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10072" y="13053432"/>
            <a:ext cx="351359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1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6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乌云下的大岩层，前景是一条土路"/>
          <p:cNvSpPr>
            <a:spLocks noGrp="1"/>
          </p:cNvSpPr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2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2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8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latin typeface="MiSans VF Regular"/>
                <a:ea typeface="MiSans VF Regular"/>
                <a:cs typeface="MiSans VF Regular"/>
                <a:sym typeface="MiSans VF Regular"/>
              </a:defRPr>
            </a:lvl1pPr>
          </a:lstStyle>
          <a:p>
            <a:r>
              <a:t>章节标题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10072" y="13053432"/>
            <a:ext cx="351359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09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议程副标题</a:t>
            </a:r>
          </a:p>
        </p:txBody>
      </p:sp>
      <p:sp>
        <p:nvSpPr>
          <p:cNvPr id="11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/>
            </a:lvl5pPr>
          </a:lstStyle>
          <a:p>
            <a:r>
              <a:t>说明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59460">
              <a:lnSpc>
                <a:spcPct val="100000"/>
              </a:lnSpc>
              <a:spcBef>
                <a:spcPts val="0"/>
              </a:spcBef>
              <a:buSzTx/>
              <a:buNone/>
              <a:defRPr sz="506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事实信息</a:t>
            </a:r>
          </a:p>
        </p:txBody>
      </p:sp>
      <p:sp>
        <p:nvSpPr>
          <p:cNvPr id="127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spc="-250">
                <a:latin typeface="+mn-lt"/>
                <a:ea typeface="+mn-ea"/>
                <a:cs typeface="+mn-cs"/>
                <a:sym typeface="MiSans VF Heavy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spc="-250">
                <a:latin typeface="+mn-lt"/>
                <a:ea typeface="+mn-ea"/>
                <a:cs typeface="+mn-cs"/>
                <a:sym typeface="MiSans VF Heavy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spc="-250">
                <a:latin typeface="+mn-lt"/>
                <a:ea typeface="+mn-ea"/>
                <a:cs typeface="+mn-cs"/>
                <a:sym typeface="MiSans VF Heavy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spc="-250">
                <a:latin typeface="+mn-lt"/>
                <a:ea typeface="+mn-ea"/>
                <a:cs typeface="+mn-cs"/>
                <a:sym typeface="MiSans VF Heavy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spc="-250">
                <a:latin typeface="+mn-lt"/>
                <a:ea typeface="+mn-ea"/>
                <a:cs typeface="+mn-cs"/>
                <a:sym typeface="MiSans VF Heavy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660400">
              <a:lnSpc>
                <a:spcPct val="100000"/>
              </a:lnSpc>
              <a:spcBef>
                <a:spcPts val="0"/>
              </a:spcBef>
              <a:buSzTx/>
              <a:buNone/>
              <a:defRPr sz="2880">
                <a:latin typeface="+mn-lt"/>
                <a:ea typeface="+mn-ea"/>
                <a:cs typeface="+mn-cs"/>
                <a:sym typeface="MiSans VF Heavy"/>
              </a:defRPr>
            </a:lvl1pPr>
          </a:lstStyle>
          <a:p>
            <a:r>
              <a:t>属性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810" indent="-469900">
              <a:spcBef>
                <a:spcPts val="0"/>
              </a:spcBef>
              <a:buSzTx/>
              <a:buNone/>
              <a:defRPr sz="8500" spc="-170"/>
            </a:lvl1pPr>
            <a:lvl2pPr marL="638810" indent="-12700">
              <a:spcBef>
                <a:spcPts val="0"/>
              </a:spcBef>
              <a:buSzTx/>
              <a:buNone/>
              <a:defRPr sz="8500" spc="-170"/>
            </a:lvl2pPr>
            <a:lvl3pPr marL="638810" indent="444500">
              <a:spcBef>
                <a:spcPts val="0"/>
              </a:spcBef>
              <a:buSzTx/>
              <a:buNone/>
              <a:defRPr sz="8500" spc="-170"/>
            </a:lvl3pPr>
            <a:lvl4pPr marL="638810" indent="901700">
              <a:spcBef>
                <a:spcPts val="0"/>
              </a:spcBef>
              <a:buSzTx/>
              <a:buNone/>
              <a:defRPr sz="8500" spc="-170"/>
            </a:lvl4pPr>
            <a:lvl5pPr marL="638810" indent="1358900">
              <a:spcBef>
                <a:spcPts val="0"/>
              </a:spcBef>
              <a:buSzTx/>
              <a:buNone/>
              <a:defRPr sz="8500" spc="-170"/>
            </a:lvl5pPr>
          </a:lstStyle>
          <a:p>
            <a:r>
              <a:t>“著名引文”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生长在岩石之间的野生植物的特写"/>
          <p:cNvSpPr>
            <a:spLocks noGrp="1"/>
          </p:cNvSpPr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乌云下的大岩层，前景是一条土路"/>
          <p:cNvSpPr>
            <a:spLocks noGrp="1"/>
          </p:cNvSpPr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生长在熔岩岩石之间的野生植物的特写"/>
          <p:cNvSpPr>
            <a:spLocks noGrp="1"/>
          </p:cNvSpPr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被绿色岩石景观环绕的瀑布"/>
          <p:cNvSpPr>
            <a:spLocks noGrp="1"/>
          </p:cNvSpPr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240853" y="12640410"/>
            <a:ext cx="376328" cy="443992"/>
          </a:xfrm>
          <a:prstGeom prst="rect">
            <a:avLst/>
          </a:prstGeom>
        </p:spPr>
        <p:txBody>
          <a:bodyPr lIns="97535" tIns="97535" rIns="97535" bIns="97535" anchor="ctr">
            <a:normAutofit/>
          </a:bodyPr>
          <a:lstStyle>
            <a:lvl1pPr algn="r" defTabSz="1951990">
              <a:lnSpc>
                <a:spcPct val="8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240853" y="12640410"/>
            <a:ext cx="376328" cy="443992"/>
          </a:xfrm>
          <a:prstGeom prst="rect">
            <a:avLst/>
          </a:prstGeom>
        </p:spPr>
        <p:txBody>
          <a:bodyPr lIns="97535" tIns="97535" rIns="97535" bIns="97535" anchor="ctr">
            <a:normAutofit/>
          </a:bodyPr>
          <a:lstStyle>
            <a:lvl1pPr algn="r" defTabSz="1951990">
              <a:lnSpc>
                <a:spcPct val="8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599" y="12344863"/>
            <a:ext cx="5689602" cy="729891"/>
          </a:xfrm>
          <a:prstGeom prst="rect">
            <a:avLst/>
          </a:prstGeom>
        </p:spPr>
        <p:txBody>
          <a:bodyPr lIns="97535" tIns="97535" rIns="97535" bIns="97535" anchor="ctr"/>
          <a:lstStyle>
            <a:lvl1pPr algn="r" defTabSz="1951990">
              <a:lnSpc>
                <a:spcPct val="80000"/>
              </a:lnSpc>
              <a:defRPr sz="2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r>
              <a:t>作者和日期</a:t>
            </a:r>
          </a:p>
        </p:txBody>
      </p:sp>
      <p:sp>
        <p:nvSpPr>
          <p:cNvPr id="206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7000" cap="all" spc="-140"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207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Poppins Bold"/>
                <a:ea typeface="Poppins Bold"/>
                <a:cs typeface="Poppins Bold"/>
                <a:sym typeface="Poppi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Poppins Bold"/>
                <a:ea typeface="Poppins Bold"/>
                <a:cs typeface="Poppins Bold"/>
                <a:sym typeface="Poppi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Poppins Bold"/>
                <a:ea typeface="Poppins Bold"/>
                <a:cs typeface="Poppins Bold"/>
                <a:sym typeface="Poppi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Poppins Bold"/>
                <a:ea typeface="Poppins Bold"/>
                <a:cs typeface="Poppins Bold"/>
                <a:sym typeface="Poppi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Poppins Bold"/>
                <a:ea typeface="Poppins Bold"/>
                <a:cs typeface="Poppins Bold"/>
                <a:sym typeface="Poppins Bold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26493" y="13033960"/>
            <a:ext cx="331014" cy="421639"/>
          </a:xfrm>
          <a:prstGeom prst="rect">
            <a:avLst/>
          </a:prstGeom>
        </p:spPr>
        <p:txBody>
          <a:bodyPr/>
          <a:lstStyle>
            <a:lvl1pPr>
              <a:defRPr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10072" y="13049198"/>
            <a:ext cx="351359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MiSans VF Heavy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MiSans VF Regular"/>
          <a:ea typeface="MiSans VF Regular"/>
          <a:cs typeface="MiSans VF Regular"/>
          <a:sym typeface="MiSans VF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Sans VF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eg"/><Relationship Id="rId11" Type="http://schemas.openxmlformats.org/officeDocument/2006/relationships/image" Target="../media/image12.svg"/><Relationship Id="rId5" Type="http://schemas.openxmlformats.org/officeDocument/2006/relationships/image" Target="../media/image6.tiff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线条"/>
          <p:cNvSpPr/>
          <p:nvPr/>
        </p:nvSpPr>
        <p:spPr>
          <a:xfrm>
            <a:off x="1618899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6" name="线条"/>
          <p:cNvSpPr/>
          <p:nvPr/>
        </p:nvSpPr>
        <p:spPr>
          <a:xfrm>
            <a:off x="4961587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7" name="线条"/>
          <p:cNvSpPr/>
          <p:nvPr/>
        </p:nvSpPr>
        <p:spPr>
          <a:xfrm>
            <a:off x="8304275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8" name="线条"/>
          <p:cNvSpPr/>
          <p:nvPr/>
        </p:nvSpPr>
        <p:spPr>
          <a:xfrm>
            <a:off x="11667168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9" name="线条"/>
          <p:cNvSpPr/>
          <p:nvPr/>
        </p:nvSpPr>
        <p:spPr>
          <a:xfrm>
            <a:off x="15009855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10" name="线条"/>
          <p:cNvSpPr/>
          <p:nvPr/>
        </p:nvSpPr>
        <p:spPr>
          <a:xfrm>
            <a:off x="18352541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22" name="线条"/>
          <p:cNvSpPr/>
          <p:nvPr/>
        </p:nvSpPr>
        <p:spPr>
          <a:xfrm>
            <a:off x="28922" y="-47"/>
            <a:ext cx="24378567" cy="1"/>
          </a:xfrm>
          <a:prstGeom prst="line">
            <a:avLst/>
          </a:prstGeom>
          <a:noFill/>
          <a:ln w="6350" cap="flat">
            <a:solidFill>
              <a:srgbClr val="6C6C6C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24" name="default_name"/>
          <p:cNvSpPr txBox="1"/>
          <p:nvPr/>
        </p:nvSpPr>
        <p:spPr>
          <a:xfrm>
            <a:off x="2006260" y="4952159"/>
            <a:ext cx="20029521" cy="11410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1951990">
              <a:lnSpc>
                <a:spcPts val="8900"/>
              </a:lnSpc>
              <a:spcBef>
                <a:spcPts val="0"/>
              </a:spcBef>
              <a:defRPr sz="6500"/>
            </a:lvl1pPr>
          </a:lstStyle>
          <a:p>
            <a:pPr lvl="0"/>
            <a:r>
              <a:rPr lang="en-US" altLang="zh-CN" sz="11500" b="1" dirty="0">
                <a:solidFill>
                  <a:srgbClr val="FFC000"/>
                </a:solidFill>
                <a:latin typeface="Cambria Math" panose="02040503050406030204" charset="0"/>
                <a:ea typeface="MISANS VF MEDIUM" pitchFamily="2" charset="-122"/>
                <a:cs typeface="Cambria Math" panose="02040503050406030204" charset="0"/>
              </a:rPr>
              <a:t>Bold Vison 360</a:t>
            </a:r>
            <a:endParaRPr lang="zh-CN" altLang="en-US" dirty="0">
              <a:latin typeface="Cambria Math" panose="02040503050406030204" charset="0"/>
              <a:ea typeface="MISANS VF MEDIUM" pitchFamily="2" charset="-122"/>
              <a:cs typeface="Cambria Math" panose="02040503050406030204" charset="0"/>
              <a:sym typeface="MiSans VF Regular"/>
            </a:endParaRPr>
          </a:p>
        </p:txBody>
      </p:sp>
      <p:pic>
        <p:nvPicPr>
          <p:cNvPr id="526" name="影石Insta360 - 线上使用 - RGB_主标识 - 透明底.png" descr="影石Insta360 - 线上使用 - RGB_主标识 - 透明底.png"/>
          <p:cNvPicPr>
            <a:picLocks noChangeAspect="1"/>
          </p:cNvPicPr>
          <p:nvPr/>
        </p:nvPicPr>
        <p:blipFill>
          <a:blip r:embed="rId3">
            <a:alphaModFix amt="70000"/>
          </a:blip>
          <a:srcRect l="9259" t="18961" r="9259" b="42831"/>
          <a:stretch>
            <a:fillRect/>
          </a:stretch>
        </p:blipFill>
        <p:spPr>
          <a:xfrm>
            <a:off x="844356" y="674467"/>
            <a:ext cx="2011088" cy="3356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Expanding Our Imaging Portfolio"/>
          <p:cNvSpPr txBox="1"/>
          <p:nvPr/>
        </p:nvSpPr>
        <p:spPr>
          <a:xfrm>
            <a:off x="1742793" y="7061021"/>
            <a:ext cx="20556299" cy="69215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ctr" defTabSz="355600">
              <a:lnSpc>
                <a:spcPct val="80000"/>
              </a:lnSpc>
              <a:spcBef>
                <a:spcPts val="0"/>
              </a:spcBef>
              <a:defRPr sz="30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r>
              <a:rPr lang="zh-CN" altLang="zh-CN" sz="480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楷体_GB2312" panose="02000000000000000000" charset="-122"/>
                <a:ea typeface="方正楷体_GB2312" panose="02000000000000000000" charset="-122"/>
              </a:rPr>
              <a:t>让每一</a:t>
            </a:r>
            <a:r>
              <a:rPr lang="zh-CN" altLang="zh-CN" sz="480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楷体_GB2312" panose="02000000000000000000" charset="-122"/>
                <a:ea typeface="方正楷体_GB2312" panose="02000000000000000000" charset="-122"/>
                <a:sym typeface="MiSans VF Regular"/>
              </a:rPr>
              <a:t>声，都有方向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664B555-5E6A-4E14-996B-11CBE7B8B716}"/>
              </a:ext>
            </a:extLst>
          </p:cNvPr>
          <p:cNvSpPr txBox="1">
            <a:spLocks noGrp="1"/>
          </p:cNvSpPr>
          <p:nvPr/>
        </p:nvSpPr>
        <p:spPr>
          <a:xfrm>
            <a:off x="15849600" y="0"/>
            <a:ext cx="8534400" cy="13716000"/>
          </a:xfrm>
          <a:prstGeom prst="rect">
            <a:avLst/>
          </a:prstGeom>
          <a:gradFill>
            <a:gsLst>
              <a:gs pos="0">
                <a:srgbClr val="071018">
                  <a:alpha val="0"/>
                </a:srgbClr>
              </a:gs>
              <a:gs pos="48000">
                <a:srgbClr val="071018">
                  <a:alpha val="75000"/>
                </a:srgbClr>
              </a:gs>
              <a:gs pos="100000">
                <a:srgbClr val="071018">
                  <a:alpha val="96000"/>
                </a:srgbClr>
              </a:gs>
            </a:gsLst>
            <a:lin ang="0"/>
          </a:gradFill>
          <a:ln w="0">
            <a:noFill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l="27778" r="27778"/>
          <a:stretch>
            <a:fillRect/>
          </a:stretch>
        </p:blipFill>
        <p:spPr>
          <a:xfrm>
            <a:off x="18288000" y="2773680"/>
            <a:ext cx="5791200" cy="8686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AAD46B2-3501-48EE-9A2A-08FCA2AD129E}"/>
              </a:ext>
            </a:extLst>
          </p:cNvPr>
          <p:cNvSpPr txBox="1">
            <a:spLocks noGrp="1"/>
          </p:cNvSpPr>
          <p:nvPr/>
        </p:nvSpPr>
        <p:spPr>
          <a:xfrm>
            <a:off x="18288000" y="2773680"/>
            <a:ext cx="5791200" cy="8686800"/>
          </a:xfrm>
          <a:prstGeom prst="rect">
            <a:avLst/>
          </a:prstGeom>
          <a:solidFill>
            <a:srgbClr val="071018">
              <a:alpha val="30000"/>
            </a:srgbClr>
          </a:solidFill>
          <a:ln w="0">
            <a:noFill/>
          </a:ln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E3A9A9-ECFD-407E-A30B-1477B34E090F}"/>
              </a:ext>
            </a:extLst>
          </p:cNvPr>
          <p:cNvSpPr txBox="1">
            <a:spLocks noGrp="1"/>
          </p:cNvSpPr>
          <p:nvPr/>
        </p:nvSpPr>
        <p:spPr>
          <a:xfrm>
            <a:off x="18288000" y="2773680"/>
            <a:ext cx="5791200" cy="8686800"/>
          </a:xfrm>
          <a:prstGeom prst="rect">
            <a:avLst/>
          </a:prstGeom>
          <a:gradFill>
            <a:gsLst>
              <a:gs pos="0">
                <a:srgbClr val="071018">
                  <a:alpha val="100000"/>
                </a:srgbClr>
              </a:gs>
              <a:gs pos="19000">
                <a:srgbClr val="071018">
                  <a:alpha val="0"/>
                </a:srgbClr>
              </a:gs>
              <a:gs pos="80000">
                <a:srgbClr val="071018">
                  <a:alpha val="0"/>
                </a:srgbClr>
              </a:gs>
              <a:gs pos="100000">
                <a:srgbClr val="071018">
                  <a:alpha val="95000"/>
                </a:srgbClr>
              </a:gs>
            </a:gsLst>
            <a:lin ang="5400000"/>
          </a:gradFill>
          <a:ln w="0">
            <a:noFill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E36D56-251C-4FCD-9B38-BB8BF393F6C4}"/>
              </a:ext>
            </a:extLst>
          </p:cNvPr>
          <p:cNvSpPr txBox="1">
            <a:spLocks noGrp="1"/>
          </p:cNvSpPr>
          <p:nvPr/>
        </p:nvSpPr>
        <p:spPr>
          <a:xfrm>
            <a:off x="18288000" y="2773680"/>
            <a:ext cx="5791200" cy="8686800"/>
          </a:xfrm>
          <a:prstGeom prst="rect">
            <a:avLst/>
          </a:prstGeom>
          <a:gradFill>
            <a:gsLst>
              <a:gs pos="0">
                <a:srgbClr val="071018">
                  <a:alpha val="80000"/>
                </a:srgbClr>
              </a:gs>
              <a:gs pos="20000">
                <a:srgbClr val="071018">
                  <a:alpha val="0"/>
                </a:srgbClr>
              </a:gs>
              <a:gs pos="73000">
                <a:srgbClr val="071018">
                  <a:alpha val="0"/>
                </a:srgbClr>
              </a:gs>
              <a:gs pos="100000">
                <a:srgbClr val="071018">
                  <a:alpha val="95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2A23D9-DB0C-4227-B11F-A46C9CF4C19A}"/>
              </a:ext>
            </a:extLst>
          </p:cNvPr>
          <p:cNvSpPr txBox="1">
            <a:spLocks noGrp="1"/>
          </p:cNvSpPr>
          <p:nvPr/>
        </p:nvSpPr>
        <p:spPr>
          <a:xfrm>
            <a:off x="914401" y="487680"/>
            <a:ext cx="3886200" cy="548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 err="1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rPr>
              <a:t>影石</a:t>
            </a:r>
            <a:r>
              <a:rPr sz="2400" b="1" dirty="0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rPr>
              <a:t> Insta360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546FB2-20C2-48CA-8AB5-80BF327F2C33}"/>
              </a:ext>
            </a:extLst>
          </p:cNvPr>
          <p:cNvSpPr txBox="1">
            <a:spLocks noGrp="1"/>
          </p:cNvSpPr>
          <p:nvPr/>
        </p:nvSpPr>
        <p:spPr>
          <a:xfrm>
            <a:off x="914400" y="1691640"/>
            <a:ext cx="12954000" cy="3078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40" b="1" dirty="0" err="1">
                <a:latin typeface="Noto Sans CJK SC"/>
                <a:ea typeface="Noto Sans CJK SC"/>
                <a:cs typeface="Noto Sans CJK SC"/>
              </a:rPr>
              <a:t>他听不见</a:t>
            </a:r>
            <a:endParaRPr sz="8040" b="1" dirty="0">
              <a:latin typeface="Noto Sans CJK SC"/>
              <a:ea typeface="Noto Sans CJK SC"/>
              <a:cs typeface="Noto Sans CJK SC"/>
            </a:endParaRPr>
          </a:p>
          <a:p>
            <a:pPr>
              <a:defRPr sz="5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40" b="1" dirty="0" err="1">
                <a:latin typeface="Noto Sans CJK SC"/>
                <a:ea typeface="Noto Sans CJK SC"/>
                <a:cs typeface="Noto Sans CJK SC"/>
              </a:rPr>
              <a:t>身后的鸣笛</a:t>
            </a:r>
            <a:endParaRPr sz="8040" b="1" dirty="0"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D2ABED-E789-4D40-B67F-91B21127E0B7}"/>
              </a:ext>
            </a:extLst>
          </p:cNvPr>
          <p:cNvSpPr txBox="1">
            <a:spLocks noGrp="1"/>
          </p:cNvSpPr>
          <p:nvPr/>
        </p:nvSpPr>
        <p:spPr>
          <a:xfrm>
            <a:off x="960120" y="5394960"/>
            <a:ext cx="11125200" cy="1584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40" dirty="0" err="1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rPr>
              <a:t>送单途中，听障骑手停在路边找地址</a:t>
            </a:r>
            <a:r>
              <a:rPr sz="3240" dirty="0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  <a:p>
            <a:pPr>
              <a:defRPr sz="2025" b="0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40" dirty="0" err="1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rPr>
              <a:t>身后的车鸣笛，他没有回头</a:t>
            </a:r>
            <a:r>
              <a:rPr sz="3240" dirty="0">
                <a:solidFill>
                  <a:srgbClr val="F1F2F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1F18E2-95A0-4E22-B405-330A96A3584E}"/>
              </a:ext>
            </a:extLst>
          </p:cNvPr>
          <p:cNvSpPr txBox="1">
            <a:spLocks noGrp="1"/>
          </p:cNvSpPr>
          <p:nvPr/>
        </p:nvSpPr>
        <p:spPr>
          <a:xfrm>
            <a:off x="8610600" y="7010400"/>
            <a:ext cx="3413760" cy="1249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050" b="1">
                <a:solidFill>
                  <a:srgbClr val="FFD32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80" b="1">
                <a:solidFill>
                  <a:srgbClr val="FFD329"/>
                </a:solidFill>
                <a:latin typeface="Noto Sans CJK SC"/>
                <a:ea typeface="Noto Sans CJK SC"/>
                <a:cs typeface="Noto Sans CJK SC"/>
              </a:rPr>
              <a:t>嘀——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51ED55-A48C-4E39-BF6E-1E28A3C5EF27}"/>
              </a:ext>
            </a:extLst>
          </p:cNvPr>
          <p:cNvSpPr txBox="1">
            <a:spLocks noGrp="1"/>
          </p:cNvSpPr>
          <p:nvPr/>
        </p:nvSpPr>
        <p:spPr>
          <a:xfrm>
            <a:off x="944880" y="11871961"/>
            <a:ext cx="16459200" cy="960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80" b="1">
                <a:latin typeface="Noto Sans CJK SC"/>
                <a:ea typeface="Noto Sans CJK SC"/>
                <a:cs typeface="Noto Sans CJK SC"/>
              </a:rPr>
              <a:t>他需要知道：鸣笛来自身后的哪个方向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71D66C-8C16-4EA8-B67E-E34E22226842}"/>
              </a:ext>
            </a:extLst>
          </p:cNvPr>
          <p:cNvSpPr txBox="1">
            <a:spLocks noGrp="1"/>
          </p:cNvSpPr>
          <p:nvPr/>
        </p:nvSpPr>
        <p:spPr>
          <a:xfrm>
            <a:off x="18227040" y="1158240"/>
            <a:ext cx="5486400" cy="100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40" b="1">
                <a:latin typeface="Noto Sans CJK SC"/>
                <a:ea typeface="Noto Sans CJK SC"/>
                <a:cs typeface="Noto Sans CJK SC"/>
              </a:rPr>
              <a:t>不止他一人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0BA416-4A7D-47F6-A4DE-7E34C72338BB}"/>
              </a:ext>
            </a:extLst>
          </p:cNvPr>
          <p:cNvSpPr txBox="1">
            <a:spLocks noGrp="1"/>
          </p:cNvSpPr>
          <p:nvPr/>
        </p:nvSpPr>
        <p:spPr>
          <a:xfrm>
            <a:off x="18257520" y="10637520"/>
            <a:ext cx="5638800" cy="1432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40" b="1">
                <a:latin typeface="Noto Sans CJK SC"/>
                <a:ea typeface="Noto Sans CJK SC"/>
                <a:cs typeface="Noto Sans CJK SC"/>
              </a:rPr>
              <a:t>更多听障求职者</a:t>
            </a:r>
          </a:p>
          <a:p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40" b="1">
                <a:latin typeface="Noto Sans CJK SC"/>
                <a:ea typeface="Noto Sans CJK SC"/>
                <a:cs typeface="Noto Sans CJK SC"/>
              </a:rPr>
              <a:t>正在等待工作机会</a:t>
            </a:r>
          </a:p>
        </p:txBody>
      </p:sp>
    </p:spTree>
    <p:extLst>
      <p:ext uri="{BB962C8B-B14F-4D97-AF65-F5344CB8AC3E}">
        <p14:creationId xmlns:p14="http://schemas.microsoft.com/office/powerpoint/2010/main" val="29174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0025226-454D-461E-9F0C-FE842C48236D}"/>
              </a:ext>
            </a:extLst>
          </p:cNvPr>
          <p:cNvSpPr>
            <a:spLocks noGrp="1"/>
          </p:cNvSpPr>
          <p:nvPr/>
        </p:nvSpPr>
        <p:spPr>
          <a:xfrm>
            <a:off x="1257300" y="552450"/>
            <a:ext cx="21717000" cy="1219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1.2万名听障骑手已经在路上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8B756C-6506-4B60-8634-EE0BE07C7176}"/>
              </a:ext>
            </a:extLst>
          </p:cNvPr>
          <p:cNvSpPr>
            <a:spLocks noGrp="1"/>
          </p:cNvSpPr>
          <p:nvPr/>
        </p:nvSpPr>
        <p:spPr>
          <a:xfrm>
            <a:off x="1314450" y="1943101"/>
            <a:ext cx="21526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下一步，让他们看见身后的提醒；让更多岗位看见他们。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5676C7-EB5B-46B3-A3BF-F8F4F2B5A3E8}"/>
              </a:ext>
            </a:extLst>
          </p:cNvPr>
          <p:cNvSpPr>
            <a:spLocks noGrp="1"/>
          </p:cNvSpPr>
          <p:nvPr/>
        </p:nvSpPr>
        <p:spPr>
          <a:xfrm>
            <a:off x="1314450" y="2895600"/>
            <a:ext cx="21755100" cy="3810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991909-8D94-4005-AF8B-10996954EC9D}"/>
              </a:ext>
            </a:extLst>
          </p:cNvPr>
          <p:cNvSpPr>
            <a:spLocks noGrp="1"/>
          </p:cNvSpPr>
          <p:nvPr/>
        </p:nvSpPr>
        <p:spPr>
          <a:xfrm>
            <a:off x="1314450" y="3219451"/>
            <a:ext cx="7239000" cy="1314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1">
                <a:solidFill>
                  <a:srgbClr val="F7C9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0" b="1" dirty="0">
                <a:solidFill>
                  <a:srgbClr val="F7C95E"/>
                </a:solidFill>
                <a:latin typeface="Noto Sans CJK SC"/>
                <a:ea typeface="Noto Sans CJK SC"/>
                <a:cs typeface="Noto Sans CJK SC"/>
              </a:rPr>
              <a:t>约2.06亿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684840-11D4-4164-BA90-C0DE028FAFDE}"/>
              </a:ext>
            </a:extLst>
          </p:cNvPr>
          <p:cNvSpPr>
            <a:spLocks noGrp="1"/>
          </p:cNvSpPr>
          <p:nvPr/>
        </p:nvSpPr>
        <p:spPr>
          <a:xfrm>
            <a:off x="1371600" y="46672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不同程度听力障碍｜2016年调查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183D25-8D98-4A84-AFC1-6A890E92D541}"/>
              </a:ext>
            </a:extLst>
          </p:cNvPr>
          <p:cNvSpPr>
            <a:spLocks noGrp="1"/>
          </p:cNvSpPr>
          <p:nvPr/>
        </p:nvSpPr>
        <p:spPr>
          <a:xfrm>
            <a:off x="8801100" y="3390901"/>
            <a:ext cx="38100" cy="192405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545813-1B0B-4AA0-8850-9EFF673D54C7}"/>
              </a:ext>
            </a:extLst>
          </p:cNvPr>
          <p:cNvSpPr>
            <a:spLocks noGrp="1"/>
          </p:cNvSpPr>
          <p:nvPr/>
        </p:nvSpPr>
        <p:spPr>
          <a:xfrm>
            <a:off x="9429750" y="3390901"/>
            <a:ext cx="4953000" cy="1276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0" b="1" dirty="0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rPr>
              <a:t>15.84%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65BD48-2DE2-4FE8-8876-855CABD632E5}"/>
              </a:ext>
            </a:extLst>
          </p:cNvPr>
          <p:cNvSpPr>
            <a:spLocks noGrp="1"/>
          </p:cNvSpPr>
          <p:nvPr/>
        </p:nvSpPr>
        <p:spPr>
          <a:xfrm>
            <a:off x="9467851" y="4667250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全国人口占比｜同一调查口径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9F3EBF-616C-47F4-8E3F-80D5606FE1FC}"/>
              </a:ext>
            </a:extLst>
          </p:cNvPr>
          <p:cNvSpPr>
            <a:spLocks noGrp="1"/>
          </p:cNvSpPr>
          <p:nvPr/>
        </p:nvSpPr>
        <p:spPr>
          <a:xfrm>
            <a:off x="15087600" y="3390901"/>
            <a:ext cx="38100" cy="192405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EA6E54-F754-452F-8F93-6E51F6866417}"/>
              </a:ext>
            </a:extLst>
          </p:cNvPr>
          <p:cNvSpPr>
            <a:spLocks noGrp="1"/>
          </p:cNvSpPr>
          <p:nvPr/>
        </p:nvSpPr>
        <p:spPr>
          <a:xfrm>
            <a:off x="15582900" y="3352800"/>
            <a:ext cx="72390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05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0" b="1" dirty="0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360.9万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18BF40-1BE2-467F-8A58-85E993ECAE8F}"/>
              </a:ext>
            </a:extLst>
          </p:cNvPr>
          <p:cNvSpPr>
            <a:spLocks noGrp="1"/>
          </p:cNvSpPr>
          <p:nvPr/>
        </p:nvSpPr>
        <p:spPr>
          <a:xfrm>
            <a:off x="15640050" y="4667250"/>
            <a:ext cx="7429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持证听力残疾人｜2024年底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9C08F2-8C43-4ABE-A721-B7A7FE0D49E3}"/>
              </a:ext>
            </a:extLst>
          </p:cNvPr>
          <p:cNvSpPr>
            <a:spLocks noGrp="1"/>
          </p:cNvSpPr>
          <p:nvPr/>
        </p:nvSpPr>
        <p:spPr>
          <a:xfrm>
            <a:off x="1314450" y="5600700"/>
            <a:ext cx="21755100" cy="3810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02A138-5A18-43B3-B071-2CE96857D5DD}"/>
              </a:ext>
            </a:extLst>
          </p:cNvPr>
          <p:cNvSpPr>
            <a:spLocks noGrp="1"/>
          </p:cNvSpPr>
          <p:nvPr/>
        </p:nvSpPr>
        <p:spPr>
          <a:xfrm>
            <a:off x="1333500" y="5867401"/>
            <a:ext cx="125730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rPr>
              <a:t>真实岗位已经存在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BFD6C1-BFFD-4D65-947B-59DFEFE93E91}"/>
              </a:ext>
            </a:extLst>
          </p:cNvPr>
          <p:cNvSpPr>
            <a:spLocks noGrp="1"/>
          </p:cNvSpPr>
          <p:nvPr/>
        </p:nvSpPr>
        <p:spPr>
          <a:xfrm>
            <a:off x="1333500" y="6572250"/>
            <a:ext cx="124206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美团在职听障骑手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1123950" y="7353300"/>
          <a:ext cx="12954000" cy="300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C8BA49F-C47E-4643-8DC2-7188FF1CBE46}"/>
              </a:ext>
            </a:extLst>
          </p:cNvPr>
          <p:cNvSpPr>
            <a:spLocks noGrp="1"/>
          </p:cNvSpPr>
          <p:nvPr/>
        </p:nvSpPr>
        <p:spPr>
          <a:xfrm>
            <a:off x="14611350" y="5943601"/>
            <a:ext cx="38100" cy="436245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E8517A-498B-473B-AA96-82F2168FC583}"/>
              </a:ext>
            </a:extLst>
          </p:cNvPr>
          <p:cNvSpPr>
            <a:spLocks noGrp="1"/>
          </p:cNvSpPr>
          <p:nvPr/>
        </p:nvSpPr>
        <p:spPr>
          <a:xfrm>
            <a:off x="15201900" y="5867401"/>
            <a:ext cx="78105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rPr>
              <a:t>栖霞就在身边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6A56B6-97B5-4BD3-9693-B39B84583322}"/>
              </a:ext>
            </a:extLst>
          </p:cNvPr>
          <p:cNvSpPr>
            <a:spLocks noGrp="1"/>
          </p:cNvSpPr>
          <p:nvPr/>
        </p:nvSpPr>
        <p:spPr>
          <a:xfrm>
            <a:off x="15259050" y="6667500"/>
            <a:ext cx="7810500" cy="1181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1083名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CFE6AF-F657-448D-ABC4-E9ECDD131A4C}"/>
              </a:ext>
            </a:extLst>
          </p:cNvPr>
          <p:cNvSpPr>
            <a:spLocks noGrp="1"/>
          </p:cNvSpPr>
          <p:nvPr/>
        </p:nvSpPr>
        <p:spPr>
          <a:xfrm>
            <a:off x="15297150" y="7905751"/>
            <a:ext cx="7620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听力残疾人｜《栖霞年鉴（2024）》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15125700" y="8724901"/>
          <a:ext cx="2209800" cy="173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FDD1E8F3-99E5-4A70-96E5-3B9D61667895}"/>
              </a:ext>
            </a:extLst>
          </p:cNvPr>
          <p:cNvSpPr>
            <a:spLocks noGrp="1"/>
          </p:cNvSpPr>
          <p:nvPr/>
        </p:nvSpPr>
        <p:spPr>
          <a:xfrm>
            <a:off x="17716500" y="8667751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53.9%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15CB9E-C497-4569-B2EC-A40DBD246644}"/>
              </a:ext>
            </a:extLst>
          </p:cNvPr>
          <p:cNvSpPr>
            <a:spLocks noGrp="1"/>
          </p:cNvSpPr>
          <p:nvPr/>
        </p:nvSpPr>
        <p:spPr>
          <a:xfrm>
            <a:off x="17754600" y="9505951"/>
            <a:ext cx="5524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就业年龄段持证残疾人已就业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A7085D-2BBB-494C-9072-EAF5FF77D94D}"/>
              </a:ext>
            </a:extLst>
          </p:cNvPr>
          <p:cNvSpPr>
            <a:spLocks noGrp="1"/>
          </p:cNvSpPr>
          <p:nvPr/>
        </p:nvSpPr>
        <p:spPr>
          <a:xfrm>
            <a:off x="17754600" y="9982201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2223 / 4124人｜包含全部残疾类别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390DBE-BF10-4F16-9D9C-04FEE68278B4}"/>
              </a:ext>
            </a:extLst>
          </p:cNvPr>
          <p:cNvSpPr>
            <a:spLocks noGrp="1"/>
          </p:cNvSpPr>
          <p:nvPr/>
        </p:nvSpPr>
        <p:spPr>
          <a:xfrm>
            <a:off x="1314450" y="10648950"/>
            <a:ext cx="21755100" cy="38100"/>
          </a:xfrm>
          <a:prstGeom prst="rect">
            <a:avLst/>
          </a:prstGeom>
          <a:solidFill>
            <a:srgbClr val="293A46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46B162-061A-4C2C-9C42-636BF629FDA4}"/>
              </a:ext>
            </a:extLst>
          </p:cNvPr>
          <p:cNvSpPr>
            <a:spLocks noGrp="1"/>
          </p:cNvSpPr>
          <p:nvPr/>
        </p:nvSpPr>
        <p:spPr>
          <a:xfrm>
            <a:off x="1333500" y="109156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6AD9DF"/>
                </a:solidFill>
                <a:latin typeface="Noto Sans CJK SC"/>
                <a:ea typeface="Noto Sans CJK SC"/>
                <a:cs typeface="Noto Sans CJK SC"/>
              </a:rPr>
              <a:t>还有就业愿望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37224F-85A4-4473-B9A8-C936FB2CA414}"/>
              </a:ext>
            </a:extLst>
          </p:cNvPr>
          <p:cNvSpPr>
            <a:spLocks noGrp="1"/>
          </p:cNvSpPr>
          <p:nvPr/>
        </p:nvSpPr>
        <p:spPr>
          <a:xfrm>
            <a:off x="1333501" y="11696700"/>
            <a:ext cx="4857750" cy="1181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600" b="1">
                <a:solidFill>
                  <a:srgbClr val="F7C9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1">
                <a:solidFill>
                  <a:srgbClr val="F7C95E"/>
                </a:solidFill>
                <a:latin typeface="Noto Sans CJK SC"/>
                <a:ea typeface="Noto Sans CJK SC"/>
                <a:cs typeface="Noto Sans CJK SC"/>
              </a:rPr>
              <a:t>104万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B88B2D-9FAB-4CAA-89F7-A2F094297DBA}"/>
              </a:ext>
            </a:extLst>
          </p:cNvPr>
          <p:cNvSpPr>
            <a:spLocks noGrp="1"/>
          </p:cNvSpPr>
          <p:nvPr/>
        </p:nvSpPr>
        <p:spPr>
          <a:xfrm>
            <a:off x="6400801" y="11696701"/>
            <a:ext cx="16478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F5F8FA"/>
                </a:solidFill>
                <a:latin typeface="Noto Sans CJK SC"/>
                <a:ea typeface="Noto Sans CJK SC"/>
                <a:cs typeface="Noto Sans CJK SC"/>
              </a:rPr>
              <a:t>未就业残疾人调查中，有就业意愿和生活自理能力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1E86E8-D27E-4E17-B048-DE1B410D7390}"/>
              </a:ext>
            </a:extLst>
          </p:cNvPr>
          <p:cNvSpPr>
            <a:spLocks noGrp="1"/>
          </p:cNvSpPr>
          <p:nvPr/>
        </p:nvSpPr>
        <p:spPr>
          <a:xfrm>
            <a:off x="6438901" y="12401550"/>
            <a:ext cx="16363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中国残联2025年答复｜涵盖全部残疾类别，不能视为听障失业人数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A34980-9676-4EAB-B369-F9A4DA80B471}"/>
              </a:ext>
            </a:extLst>
          </p:cNvPr>
          <p:cNvSpPr>
            <a:spLocks noGrp="1"/>
          </p:cNvSpPr>
          <p:nvPr/>
        </p:nvSpPr>
        <p:spPr>
          <a:xfrm>
            <a:off x="1352551" y="13163550"/>
            <a:ext cx="1514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>
                <a:solidFill>
                  <a:srgbClr val="97AAB5"/>
                </a:solidFill>
                <a:latin typeface="Noto Sans CJK SC"/>
                <a:ea typeface="Noto Sans CJK SC"/>
                <a:cs typeface="Noto Sans CJK SC"/>
              </a:rPr>
              <a:t>统计年份与对象不同，人数不可相加。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074984-01B6-6757-4B64-7A68D0B15A02}"/>
              </a:ext>
            </a:extLst>
          </p:cNvPr>
          <p:cNvSpPr txBox="1">
            <a:spLocks noGrp="1"/>
          </p:cNvSpPr>
          <p:nvPr/>
        </p:nvSpPr>
        <p:spPr>
          <a:xfrm>
            <a:off x="21526500" y="323849"/>
            <a:ext cx="3886200" cy="548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dirty="0" err="1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rPr>
              <a:t>影石</a:t>
            </a:r>
            <a:r>
              <a:rPr sz="2400" b="1" dirty="0">
                <a:solidFill>
                  <a:srgbClr val="D4D8DB"/>
                </a:solidFill>
                <a:latin typeface="Noto Sans CJK SC"/>
                <a:ea typeface="Noto Sans CJK SC"/>
                <a:cs typeface="Noto Sans CJK SC"/>
              </a:rPr>
              <a:t> Insta360</a:t>
            </a:r>
          </a:p>
        </p:txBody>
      </p:sp>
    </p:spTree>
    <p:extLst>
      <p:ext uri="{BB962C8B-B14F-4D97-AF65-F5344CB8AC3E}">
        <p14:creationId xmlns:p14="http://schemas.microsoft.com/office/powerpoint/2010/main" val="51266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EDB6-6EB7-AB3E-0DD5-BFC590AD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影石Insta360 - 线上使用 - RGB_主标识 - 透明底.png" descr="影石Insta360 - 线上使用 - RGB_主标识 - 透明底.png">
            <a:extLst>
              <a:ext uri="{FF2B5EF4-FFF2-40B4-BE49-F238E27FC236}">
                <a16:creationId xmlns:a16="http://schemas.microsoft.com/office/drawing/2014/main" id="{6AB56CF6-4B36-F3F9-CD6B-0E2B9DABC0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9259" t="18961" r="9259" b="42831"/>
          <a:stretch>
            <a:fillRect/>
          </a:stretch>
        </p:blipFill>
        <p:spPr>
          <a:xfrm>
            <a:off x="844356" y="674467"/>
            <a:ext cx="2011088" cy="3356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E174E24-58B7-3128-A2F0-C97A57379F6D}"/>
              </a:ext>
            </a:extLst>
          </p:cNvPr>
          <p:cNvCxnSpPr/>
          <p:nvPr/>
        </p:nvCxnSpPr>
        <p:spPr>
          <a:xfrm>
            <a:off x="25381527" y="5874327"/>
            <a:ext cx="914400" cy="914400"/>
          </a:xfrm>
          <a:prstGeom prst="straightConnector1">
            <a:avLst/>
          </a:prstGeom>
          <a:noFill/>
          <a:ln w="25400" cap="flat">
            <a:solidFill>
              <a:srgbClr val="FFFFFF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1AA7DBA9-D769-C3D3-CFB8-F3D9C90A516C}"/>
              </a:ext>
            </a:extLst>
          </p:cNvPr>
          <p:cNvSpPr/>
          <p:nvPr/>
        </p:nvSpPr>
        <p:spPr>
          <a:xfrm>
            <a:off x="4509247" y="6015461"/>
            <a:ext cx="15795812" cy="16850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FFC000"/>
                </a:solidFill>
                <a:latin typeface="Cambria Math" panose="02040503050406030204" charset="0"/>
                <a:ea typeface="MISANS VF MEDIUM" pitchFamily="2" charset="-122"/>
              </a:rPr>
              <a:t>有没有一种办法</a:t>
            </a:r>
            <a:r>
              <a:rPr lang="en-US" altLang="zh-CN" sz="11500" b="1" dirty="0">
                <a:solidFill>
                  <a:srgbClr val="FFC000"/>
                </a:solidFill>
                <a:latin typeface="Cambria Math" panose="02040503050406030204" charset="0"/>
                <a:ea typeface="MISANS VF MEDIUM" pitchFamily="2" charset="-122"/>
              </a:rPr>
              <a:t>……</a:t>
            </a:r>
            <a:endParaRPr lang="zh-CN" altLang="en-US" sz="11500" b="1" dirty="0">
              <a:solidFill>
                <a:srgbClr val="FFC000"/>
              </a:solidFill>
              <a:latin typeface="Cambria Math" panose="02040503050406030204" charset="0"/>
              <a:ea typeface="MISANS VF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42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线条"/>
          <p:cNvSpPr/>
          <p:nvPr/>
        </p:nvSpPr>
        <p:spPr>
          <a:xfrm>
            <a:off x="1618899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6" name="线条"/>
          <p:cNvSpPr/>
          <p:nvPr/>
        </p:nvSpPr>
        <p:spPr>
          <a:xfrm>
            <a:off x="4961587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7" name="线条"/>
          <p:cNvSpPr/>
          <p:nvPr/>
        </p:nvSpPr>
        <p:spPr>
          <a:xfrm>
            <a:off x="8304275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8" name="线条"/>
          <p:cNvSpPr/>
          <p:nvPr/>
        </p:nvSpPr>
        <p:spPr>
          <a:xfrm>
            <a:off x="11667168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09" name="线条"/>
          <p:cNvSpPr/>
          <p:nvPr/>
        </p:nvSpPr>
        <p:spPr>
          <a:xfrm>
            <a:off x="15009855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10" name="线条"/>
          <p:cNvSpPr/>
          <p:nvPr/>
        </p:nvSpPr>
        <p:spPr>
          <a:xfrm>
            <a:off x="18352541" y="-2154375"/>
            <a:ext cx="2565238" cy="1"/>
          </a:xfrm>
          <a:prstGeom prst="line">
            <a:avLst/>
          </a:prstGeom>
          <a:ln w="25400">
            <a:solidFill>
              <a:srgbClr val="FFFFFF">
                <a:alpha val="14854"/>
              </a:srgbClr>
            </a:solidFill>
            <a:miter/>
          </a:ln>
        </p:spPr>
        <p:txBody>
          <a:bodyPr lIns="97535" tIns="97535" rIns="97535" bIns="97535"/>
          <a:lstStyle/>
          <a:p>
            <a:pPr defTabSz="1951990">
              <a:lnSpc>
                <a:spcPct val="80000"/>
              </a:lnSpc>
              <a:spcBef>
                <a:spcPts val="0"/>
              </a:spcBef>
              <a:defRPr sz="3800">
                <a:latin typeface="Poppins Regular"/>
                <a:ea typeface="Poppins Regular"/>
                <a:cs typeface="Poppins Regular"/>
                <a:sym typeface="Poppins Regular"/>
              </a:defRPr>
            </a:pPr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522" name="线条"/>
          <p:cNvSpPr/>
          <p:nvPr/>
        </p:nvSpPr>
        <p:spPr>
          <a:xfrm>
            <a:off x="28922" y="-47"/>
            <a:ext cx="24378567" cy="1"/>
          </a:xfrm>
          <a:prstGeom prst="line">
            <a:avLst/>
          </a:prstGeom>
          <a:noFill/>
          <a:ln w="6350" cap="flat">
            <a:solidFill>
              <a:srgbClr val="6C6C6C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pic>
        <p:nvPicPr>
          <p:cNvPr id="526" name="影石Insta360 - 线上使用 - RGB_主标识 - 透明底.png" descr="影石Insta360 - 线上使用 - RGB_主标识 - 透明底.png"/>
          <p:cNvPicPr>
            <a:picLocks noChangeAspect="1"/>
          </p:cNvPicPr>
          <p:nvPr/>
        </p:nvPicPr>
        <p:blipFill>
          <a:blip r:embed="rId3">
            <a:alphaModFix amt="70000"/>
          </a:blip>
          <a:srcRect l="9259" t="18961" r="9259" b="42831"/>
          <a:stretch>
            <a:fillRect/>
          </a:stretch>
        </p:blipFill>
        <p:spPr>
          <a:xfrm>
            <a:off x="844356" y="674467"/>
            <a:ext cx="2011088" cy="3356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" name="图片 1" descr="kzVekRBYP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" y="0"/>
            <a:ext cx="24369395" cy="1371536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线条"/>
          <p:cNvSpPr/>
          <p:nvPr/>
        </p:nvSpPr>
        <p:spPr>
          <a:xfrm>
            <a:off x="28922" y="1177878"/>
            <a:ext cx="24378567" cy="1"/>
          </a:xfrm>
          <a:prstGeom prst="line">
            <a:avLst/>
          </a:prstGeom>
          <a:noFill/>
          <a:ln w="6350" cap="flat">
            <a:solidFill>
              <a:srgbClr val="6C6C6C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>
              <a:latin typeface="MISANS VF MEDIUM" pitchFamily="2" charset="-122"/>
              <a:ea typeface="MISANS VF MEDIUM" pitchFamily="2" charset="-122"/>
            </a:endParaRPr>
          </a:p>
        </p:txBody>
      </p:sp>
      <p:pic>
        <p:nvPicPr>
          <p:cNvPr id="661" name="影石Insta360 - 线上使用 - RGB_主标识 - 透明底.png" descr="影石Insta360 - 线上使用 - RGB_主标识 - 透明底.png"/>
          <p:cNvPicPr>
            <a:picLocks noChangeAspect="1"/>
          </p:cNvPicPr>
          <p:nvPr/>
        </p:nvPicPr>
        <p:blipFill>
          <a:blip r:embed="rId3">
            <a:alphaModFix amt="70000"/>
          </a:blip>
          <a:srcRect l="9259" t="18961" r="9259" b="42831"/>
          <a:stretch>
            <a:fillRect/>
          </a:stretch>
        </p:blipFill>
        <p:spPr>
          <a:xfrm>
            <a:off x="815129" y="631652"/>
            <a:ext cx="2011088" cy="3356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" name="成组"/>
          <p:cNvGrpSpPr/>
          <p:nvPr/>
        </p:nvGrpSpPr>
        <p:grpSpPr>
          <a:xfrm>
            <a:off x="10200387" y="5036912"/>
            <a:ext cx="4679448" cy="4484048"/>
            <a:chOff x="0" y="0"/>
            <a:chExt cx="5220578" cy="5220578"/>
          </a:xfrm>
        </p:grpSpPr>
        <p:grpSp>
          <p:nvGrpSpPr>
            <p:cNvPr id="5" name="成组"/>
            <p:cNvGrpSpPr/>
            <p:nvPr/>
          </p:nvGrpSpPr>
          <p:grpSpPr>
            <a:xfrm>
              <a:off x="0" y="0"/>
              <a:ext cx="5220578" cy="5220578"/>
              <a:chOff x="0" y="0"/>
              <a:chExt cx="5220577" cy="5220577"/>
            </a:xfrm>
          </p:grpSpPr>
          <p:sp>
            <p:nvSpPr>
              <p:cNvPr id="11" name="圆形"/>
              <p:cNvSpPr/>
              <p:nvPr/>
            </p:nvSpPr>
            <p:spPr>
              <a:xfrm>
                <a:off x="0" y="0"/>
                <a:ext cx="5220578" cy="5220578"/>
              </a:xfrm>
              <a:prstGeom prst="ellipse">
                <a:avLst/>
              </a:prstGeom>
              <a:solidFill>
                <a:srgbClr val="322B0E"/>
              </a:solidFill>
              <a:ln w="12700" cap="flat">
                <a:noFill/>
                <a:miter lim="400000"/>
              </a:ln>
              <a:effectLst>
                <a:outerShdw blurRad="647700" dist="203200" dir="5400000" rotWithShape="0">
                  <a:srgbClr val="000000">
                    <a:alpha val="9856"/>
                  </a:srgbClr>
                </a:outerShdw>
              </a:effectLst>
            </p:spPr>
            <p:txBody>
              <a:bodyPr wrap="square" lIns="97535" tIns="97535" rIns="97535" bIns="97535" numCol="1" anchor="ctr">
                <a:noAutofit/>
              </a:bodyPr>
              <a:lstStyle/>
              <a:p>
                <a:pPr defTabSz="1951990">
                  <a:lnSpc>
                    <a:spcPct val="80000"/>
                  </a:lnSpc>
                  <a:spcBef>
                    <a:spcPts val="0"/>
                  </a:spcBef>
                  <a:defRPr sz="3800"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endParaRPr>
                  <a:latin typeface="MISANS VF MEDIUM" pitchFamily="2" charset="-122"/>
                  <a:ea typeface="MISANS VF MEDIUM" pitchFamily="2" charset="-122"/>
                </a:endParaRPr>
              </a:p>
            </p:txBody>
          </p:sp>
          <p:sp>
            <p:nvSpPr>
              <p:cNvPr id="12" name="圆形"/>
              <p:cNvSpPr/>
              <p:nvPr/>
            </p:nvSpPr>
            <p:spPr>
              <a:xfrm>
                <a:off x="257402" y="257401"/>
                <a:ext cx="4705774" cy="4705775"/>
              </a:xfrm>
              <a:prstGeom prst="ellipse">
                <a:avLst/>
              </a:prstGeom>
              <a:solidFill>
                <a:srgbClr val="F8D648"/>
              </a:solidFill>
              <a:ln w="12700" cap="flat">
                <a:noFill/>
                <a:miter lim="400000"/>
              </a:ln>
              <a:effectLst>
                <a:outerShdw blurRad="647700" dist="203200" dir="5400000" rotWithShape="0">
                  <a:srgbClr val="000000">
                    <a:alpha val="9856"/>
                  </a:srgbClr>
                </a:outerShdw>
              </a:effectLst>
            </p:spPr>
            <p:txBody>
              <a:bodyPr wrap="square" lIns="97535" tIns="97535" rIns="97535" bIns="97535" numCol="1" anchor="ctr">
                <a:noAutofit/>
              </a:bodyPr>
              <a:lstStyle/>
              <a:p>
                <a:pPr defTabSz="1951990">
                  <a:lnSpc>
                    <a:spcPct val="80000"/>
                  </a:lnSpc>
                  <a:spcBef>
                    <a:spcPts val="0"/>
                  </a:spcBef>
                  <a:defRPr sz="3800">
                    <a:latin typeface="Poppins Regular"/>
                    <a:ea typeface="Poppins Regular"/>
                    <a:cs typeface="Poppins Regular"/>
                    <a:sym typeface="Poppins Regular"/>
                  </a:defRPr>
                </a:pPr>
                <a:endParaRPr>
                  <a:latin typeface="MISANS VF MEDIUM" pitchFamily="2" charset="-122"/>
                  <a:ea typeface="MISANS VF MEDIUM" pitchFamily="2" charset="-122"/>
                </a:endParaRPr>
              </a:p>
            </p:txBody>
          </p:sp>
        </p:grpSp>
        <p:grpSp>
          <p:nvGrpSpPr>
            <p:cNvPr id="6" name="成组"/>
            <p:cNvGrpSpPr/>
            <p:nvPr/>
          </p:nvGrpSpPr>
          <p:grpSpPr>
            <a:xfrm>
              <a:off x="384992" y="492042"/>
              <a:ext cx="4107741" cy="4695348"/>
              <a:chOff x="0" y="-1"/>
              <a:chExt cx="4107739" cy="4695346"/>
            </a:xfrm>
          </p:grpSpPr>
          <p:grpSp>
            <p:nvGrpSpPr>
              <p:cNvPr id="7" name="成组"/>
              <p:cNvGrpSpPr/>
              <p:nvPr/>
            </p:nvGrpSpPr>
            <p:grpSpPr>
              <a:xfrm>
                <a:off x="0" y="-1"/>
                <a:ext cx="4107739" cy="4062466"/>
                <a:chOff x="0" y="-1"/>
                <a:chExt cx="4107738" cy="4062465"/>
              </a:xfrm>
            </p:grpSpPr>
            <p:pic>
              <p:nvPicPr>
                <p:cNvPr id="9" name="image93.png" descr="image93.png"/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>
                <a:xfrm>
                  <a:off x="0" y="-1"/>
                  <a:ext cx="3697819" cy="4062465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  <p:pic>
              <p:nvPicPr>
                <p:cNvPr id="10" name="图像" descr="图像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96637" y="1431926"/>
                  <a:ext cx="1311101" cy="1474989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8" name="default_name"/>
              <p:cNvSpPr/>
              <p:nvPr/>
            </p:nvSpPr>
            <p:spPr>
              <a:xfrm>
                <a:off x="2239721" y="342534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t">
                <a:spAutoFit/>
              </a:bodyPr>
              <a:lstStyle>
                <a:lvl1pPr algn="ctr" defTabSz="975995">
                  <a:lnSpc>
                    <a:spcPct val="80000"/>
                  </a:lnSpc>
                  <a:spcBef>
                    <a:spcPts val="0"/>
                  </a:spcBef>
                  <a:defRPr sz="2500" cap="all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r>
                  <a:rPr dirty="0" err="1">
                    <a:latin typeface="MISANS VF MEDIUM" pitchFamily="2" charset="-122"/>
                    <a:ea typeface="MISANS VF MEDIUM" pitchFamily="2" charset="-122"/>
                  </a:rPr>
                  <a:t>全景相机</a:t>
                </a:r>
                <a:endParaRPr dirty="0">
                  <a:latin typeface="MISANS VF MEDIUM" pitchFamily="2" charset="-122"/>
                  <a:ea typeface="MISANS VF MEDIUM" pitchFamily="2" charset="-122"/>
                </a:endParaRPr>
              </a:p>
            </p:txBody>
          </p:sp>
        </p:grpSp>
      </p:grpSp>
      <p:pic>
        <p:nvPicPr>
          <p:cNvPr id="14" name="图片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6" t="-5350" r="716" b="5350"/>
          <a:stretch>
            <a:fillRect/>
          </a:stretch>
        </p:blipFill>
        <p:spPr>
          <a:xfrm>
            <a:off x="2365316" y="1838023"/>
            <a:ext cx="6205247" cy="4182246"/>
          </a:xfrm>
          <a:prstGeom prst="round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16" y="8232983"/>
            <a:ext cx="6315937" cy="4182246"/>
          </a:xfrm>
          <a:prstGeom prst="round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332" y="1838023"/>
            <a:ext cx="6205247" cy="4182246"/>
          </a:xfrm>
          <a:prstGeom prst="round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" t="590" r="-1727" b="-590"/>
          <a:stretch>
            <a:fillRect/>
          </a:stretch>
        </p:blipFill>
        <p:spPr>
          <a:xfrm>
            <a:off x="16544288" y="8232983"/>
            <a:ext cx="6315936" cy="4182246"/>
          </a:xfrm>
          <a:prstGeom prst="round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779707" y="2406958"/>
            <a:ext cx="2173685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zh-CN" sz="6000" b="1" dirty="0">
                <a:solidFill>
                  <a:srgbClr val="FFC000"/>
                </a:solidFill>
                <a:ea typeface="MISANS VF MEDIUM" pitchFamily="2" charset="-122"/>
              </a:rPr>
              <a:t>凡有声处，皆有方向</a:t>
            </a:r>
            <a:endParaRPr lang="zh-CN" altLang="en-US" sz="6000" b="1" dirty="0">
              <a:solidFill>
                <a:srgbClr val="FFC000"/>
              </a:solidFill>
              <a:ea typeface="MISANS VF MEDIUM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11794" y="6399172"/>
            <a:ext cx="723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7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7D4E8"/>
                </a:solidFill>
                <a:latin typeface="Marlett" pitchFamily="2" charset="2"/>
                <a:ea typeface="Noto Sans CJK SC"/>
                <a:cs typeface="+mj-cs"/>
              </a:rPr>
              <a:t>01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997595" y="6265822"/>
            <a:ext cx="345709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875" b="1">
                <a:solidFill>
                  <a:srgbClr val="F4F5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750" b="1">
                <a:solidFill>
                  <a:srgbClr val="F4F5F5"/>
                </a:solidFill>
                <a:latin typeface="Marlett" pitchFamily="2" charset="2"/>
                <a:ea typeface="Noto Sans CJK SC"/>
                <a:cs typeface="+mj-cs"/>
              </a:rPr>
              <a:t>听障者城市步行</a:t>
            </a:r>
            <a:endParaRPr sz="3750" b="1">
              <a:solidFill>
                <a:srgbClr val="F4F5F5"/>
              </a:solidFill>
              <a:latin typeface="Marlett" pitchFamily="2" charset="2"/>
              <a:ea typeface="Noto Sans CJK SC"/>
              <a:cs typeface="+mj-c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349893" y="12832130"/>
            <a:ext cx="723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7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7D4E8"/>
                </a:solidFill>
                <a:latin typeface="Marlett" pitchFamily="2" charset="2"/>
                <a:ea typeface="Noto Sans CJK SC"/>
                <a:cs typeface="+mj-cs"/>
              </a:rPr>
              <a:t>01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35694" y="12698780"/>
            <a:ext cx="345709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875" b="1">
                <a:solidFill>
                  <a:srgbClr val="F4F5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750" b="1">
                <a:solidFill>
                  <a:srgbClr val="F4F5F5"/>
                </a:solidFill>
                <a:latin typeface="Marlett" pitchFamily="2" charset="2"/>
                <a:ea typeface="Noto Sans CJK SC"/>
                <a:cs typeface="+mj-cs"/>
              </a:rPr>
              <a:t>电动车道路骑行</a:t>
            </a:r>
            <a:endParaRPr sz="3750" b="1">
              <a:solidFill>
                <a:srgbClr val="F4F5F5"/>
              </a:solidFill>
              <a:latin typeface="Marlett" pitchFamily="2" charset="2"/>
              <a:ea typeface="Noto Sans CJK SC"/>
              <a:cs typeface="+mj-c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7448953" y="12965480"/>
            <a:ext cx="723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7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7D4E8"/>
                </a:solidFill>
                <a:latin typeface="Marlett" pitchFamily="2" charset="2"/>
                <a:ea typeface="Noto Sans CJK SC"/>
                <a:cs typeface="+mj-cs"/>
              </a:rPr>
              <a:t>01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8134754" y="12832130"/>
            <a:ext cx="345709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875" b="1">
                <a:solidFill>
                  <a:srgbClr val="F4F5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750" b="1">
                <a:solidFill>
                  <a:srgbClr val="F4F5F5"/>
                </a:solidFill>
                <a:latin typeface="Marlett" pitchFamily="2" charset="2"/>
                <a:ea typeface="Noto Sans CJK SC"/>
                <a:cs typeface="+mj-cs"/>
              </a:rPr>
              <a:t>户外救援和巡检</a:t>
            </a:r>
            <a:endParaRPr sz="3750" b="1">
              <a:solidFill>
                <a:srgbClr val="F4F5F5"/>
              </a:solidFill>
              <a:latin typeface="Marlett" pitchFamily="2" charset="2"/>
              <a:ea typeface="Noto Sans CJK SC"/>
              <a:cs typeface="+mj-c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7196888" y="6399172"/>
            <a:ext cx="723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7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7D4E8"/>
                </a:solidFill>
                <a:latin typeface="Marlett" pitchFamily="2" charset="2"/>
                <a:ea typeface="Noto Sans CJK SC"/>
                <a:cs typeface="+mj-cs"/>
              </a:rPr>
              <a:t>01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7882689" y="6265822"/>
            <a:ext cx="345709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875" b="1">
                <a:solidFill>
                  <a:srgbClr val="F4F5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750" b="1">
                <a:solidFill>
                  <a:srgbClr val="F4F5F5"/>
                </a:solidFill>
                <a:latin typeface="Marlett" pitchFamily="2" charset="2"/>
                <a:ea typeface="Noto Sans CJK SC"/>
                <a:cs typeface="+mj-cs"/>
              </a:rPr>
              <a:t>户外工地与港口</a:t>
            </a:r>
            <a:endParaRPr sz="3750" b="1">
              <a:solidFill>
                <a:srgbClr val="F4F5F5"/>
              </a:solidFill>
              <a:latin typeface="Marlett" pitchFamily="2" charset="2"/>
              <a:ea typeface="Noto Sans CJK SC"/>
              <a:cs typeface="+mj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467939" y="382412"/>
            <a:ext cx="20274908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zh-CN" sz="4800" b="0" i="0" dirty="0">
                <a:solidFill>
                  <a:srgbClr val="FFFFFF"/>
                </a:solidFill>
                <a:effectLst/>
                <a:latin typeface="MiSans VF Regular"/>
              </a:rPr>
              <a:t>不</a:t>
            </a:r>
            <a:r>
              <a:rPr lang="zh-CN" altLang="en-US" sz="4800" b="0" i="0" dirty="0">
                <a:solidFill>
                  <a:srgbClr val="FFFFFF"/>
                </a:solidFill>
                <a:effectLst/>
                <a:latin typeface="MiSans VF Regular"/>
              </a:rPr>
              <a:t>仅仅</a:t>
            </a:r>
            <a:r>
              <a:rPr lang="zh-CN" altLang="zh-CN" sz="4800" b="0" i="0" dirty="0">
                <a:solidFill>
                  <a:srgbClr val="FFFFFF"/>
                </a:solidFill>
                <a:effectLst/>
                <a:latin typeface="MiSans VF Regular"/>
              </a:rPr>
              <a:t>是一台设备，而是一套可以装进任何场景的方向感</a:t>
            </a:r>
            <a:endParaRPr lang="zh-CN" altLang="en-US" dirty="0"/>
          </a:p>
        </p:txBody>
      </p:sp>
      <p:pic>
        <p:nvPicPr>
          <p:cNvPr id="51" name="图形 50" descr="箭头轻微弯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443962" flipV="1">
            <a:off x="13433165" y="8581152"/>
            <a:ext cx="3079550" cy="2558356"/>
          </a:xfrm>
          <a:prstGeom prst="rect">
            <a:avLst/>
          </a:prstGeom>
        </p:spPr>
      </p:pic>
      <p:pic>
        <p:nvPicPr>
          <p:cNvPr id="55" name="图形 54" descr="箭头轻微弯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2360000">
            <a:off x="8586756" y="8582400"/>
            <a:ext cx="2932923" cy="2559600"/>
          </a:xfrm>
          <a:prstGeom prst="rect">
            <a:avLst/>
          </a:prstGeom>
        </p:spPr>
      </p:pic>
      <p:pic>
        <p:nvPicPr>
          <p:cNvPr id="57" name="图形 56" descr="箭头轻微弯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443962" flipH="1" flipV="1">
            <a:off x="8451030" y="2955418"/>
            <a:ext cx="3349012" cy="2695454"/>
          </a:xfrm>
          <a:prstGeom prst="rect">
            <a:avLst/>
          </a:prstGeom>
        </p:spPr>
      </p:pic>
      <p:pic>
        <p:nvPicPr>
          <p:cNvPr id="63" name="图形 62" descr="箭头轻微弯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284976" flipV="1">
            <a:off x="12912808" y="2828970"/>
            <a:ext cx="3348000" cy="28182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D84D-B91C-9241-D1BC-EFBFE388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影石Insta360 - 线上使用 - RGB_主标识 - 透明底.png" descr="影石Insta360 - 线上使用 - RGB_主标识 - 透明底.png">
            <a:extLst>
              <a:ext uri="{FF2B5EF4-FFF2-40B4-BE49-F238E27FC236}">
                <a16:creationId xmlns:a16="http://schemas.microsoft.com/office/drawing/2014/main" id="{39D31B4B-2CDD-04BE-3D04-80C17E5FA8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9259" t="18961" r="9259" b="42831"/>
          <a:stretch>
            <a:fillRect/>
          </a:stretch>
        </p:blipFill>
        <p:spPr>
          <a:xfrm>
            <a:off x="844356" y="674467"/>
            <a:ext cx="2011088" cy="3356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2E9BA329-78D1-BADF-A7D6-215758A658CE}"/>
              </a:ext>
            </a:extLst>
          </p:cNvPr>
          <p:cNvCxnSpPr/>
          <p:nvPr/>
        </p:nvCxnSpPr>
        <p:spPr>
          <a:xfrm>
            <a:off x="25381527" y="5874327"/>
            <a:ext cx="914400" cy="914400"/>
          </a:xfrm>
          <a:prstGeom prst="straightConnector1">
            <a:avLst/>
          </a:prstGeom>
          <a:noFill/>
          <a:ln w="25400" cap="flat">
            <a:solidFill>
              <a:srgbClr val="FFFFFF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20798E7-D485-D065-F7B5-DB81741E8D95}"/>
              </a:ext>
            </a:extLst>
          </p:cNvPr>
          <p:cNvSpPr/>
          <p:nvPr/>
        </p:nvSpPr>
        <p:spPr>
          <a:xfrm>
            <a:off x="4294094" y="5874327"/>
            <a:ext cx="15795812" cy="16850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500" b="1" dirty="0">
                <a:solidFill>
                  <a:srgbClr val="FFC000"/>
                </a:solidFill>
                <a:latin typeface="Cambria Math" panose="02040503050406030204" charset="0"/>
                <a:ea typeface="MISANS VF MEDIUM" pitchFamily="2" charset="-122"/>
              </a:rPr>
              <a:t>Where can we reach?</a:t>
            </a:r>
            <a:endParaRPr lang="zh-CN" altLang="en-US" sz="11500" b="1" dirty="0">
              <a:solidFill>
                <a:srgbClr val="FFC000"/>
              </a:solidFill>
              <a:latin typeface="Cambria Math" panose="02040503050406030204" charset="0"/>
              <a:ea typeface="MISANS VF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34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24384000" cy="3009900"/>
          </a:xfrm>
          <a:prstGeom prst="rect">
            <a:avLst/>
          </a:prstGeom>
          <a:gradFill>
            <a:gsLst>
              <a:gs pos="0">
                <a:srgbClr val="02050A">
                  <a:alpha val="96000"/>
                </a:srgbClr>
              </a:gs>
              <a:gs pos="100000">
                <a:srgbClr val="02050A">
                  <a:alpha val="20000"/>
                </a:srgbClr>
              </a:gs>
            </a:gsLst>
            <a:lin ang="5400000"/>
          </a:gra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0591800"/>
            <a:ext cx="24384000" cy="3124200"/>
          </a:xfrm>
          <a:prstGeom prst="rect">
            <a:avLst/>
          </a:prstGeom>
          <a:gradFill>
            <a:gsLst>
              <a:gs pos="0">
                <a:srgbClr val="02050A">
                  <a:alpha val="28000"/>
                </a:srgbClr>
              </a:gs>
              <a:gs pos="100000">
                <a:srgbClr val="02050A">
                  <a:alpha val="97000"/>
                </a:srgbClr>
              </a:gs>
            </a:gsLst>
            <a:lin ang="16200000"/>
          </a:gra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2678062"/>
            <a:ext cx="24384000" cy="2857500"/>
          </a:xfrm>
          <a:prstGeom prst="rect">
            <a:avLst/>
          </a:prstGeom>
          <a:gradFill>
            <a:gsLst>
              <a:gs pos="0">
                <a:srgbClr val="02060C">
                  <a:alpha val="2000"/>
                </a:srgbClr>
              </a:gs>
              <a:gs pos="50000">
                <a:srgbClr val="07101B">
                  <a:alpha val="60000"/>
                </a:srgbClr>
              </a:gs>
              <a:gs pos="100000">
                <a:srgbClr val="02060C">
                  <a:alpha val="7200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CN" altLang="en-US" sz="9600" dirty="0"/>
          </a:p>
        </p:txBody>
      </p:sp>
      <p:sp>
        <p:nvSpPr>
          <p:cNvPr id="5" name="brand"/>
          <p:cNvSpPr>
            <a:spLocks noGrp="1"/>
          </p:cNvSpPr>
          <p:nvPr/>
        </p:nvSpPr>
        <p:spPr>
          <a:xfrm>
            <a:off x="647700" y="34290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FD5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dirty="0" err="1">
                <a:solidFill>
                  <a:srgbClr val="CFD5DC"/>
                </a:solidFill>
                <a:latin typeface="Noto Sans CJK SC"/>
                <a:ea typeface="Noto Sans CJK SC"/>
                <a:cs typeface="Noto Sans CJK SC"/>
              </a:rPr>
              <a:t>影石</a:t>
            </a:r>
            <a:r>
              <a:rPr sz="2100" b="1" dirty="0">
                <a:solidFill>
                  <a:srgbClr val="CFD5DC"/>
                </a:solidFill>
                <a:latin typeface="Noto Sans CJK SC"/>
                <a:ea typeface="Noto Sans CJK SC"/>
                <a:cs typeface="Noto Sans CJK SC"/>
              </a:rPr>
              <a:t> Insta360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028701"/>
            <a:ext cx="230886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 w="0">
            <a:noFill/>
          </a:ln>
        </p:spPr>
      </p:sp>
      <p:sp>
        <p:nvSpPr>
          <p:cNvPr id="7" name="title"/>
          <p:cNvSpPr>
            <a:spLocks noGrp="1"/>
          </p:cNvSpPr>
          <p:nvPr/>
        </p:nvSpPr>
        <p:spPr>
          <a:xfrm>
            <a:off x="6858000" y="118110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altLang="zh-CN" sz="5700" dirty="0">
                <a:latin typeface="MISANS VF MEDIUM" pitchFamily="2" charset="-122"/>
                <a:ea typeface="MISANS VF MEDIUM" pitchFamily="2" charset="-122"/>
              </a:rPr>
              <a:t>Bold Vision 360</a:t>
            </a:r>
            <a:endParaRPr lang="zh-CN" altLang="en-US" sz="5700" dirty="0">
              <a:latin typeface="MISANS VF MEDIUM" pitchFamily="2" charset="-122"/>
              <a:ea typeface="MISANS VF MEDIUM" pitchFamily="2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4572000" y="2133600"/>
            <a:ext cx="1524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影石全景相机  ×  </a:t>
            </a:r>
            <a:r>
              <a:rPr lang="zh-CN" altLang="en-US" sz="255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多模态理解 </a:t>
            </a:r>
            <a:r>
              <a:rPr lang="en-US" altLang="zh-CN" sz="255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× </a:t>
            </a:r>
            <a:r>
              <a:rPr sz="255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阿里通义千问 Qwen-Omni-Realtime  ×  </a:t>
            </a:r>
            <a:r>
              <a:rPr lang="zh-CN" altLang="en-US" sz="255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显示设备</a:t>
            </a:r>
            <a:endParaRPr sz="2550">
              <a:solidFill>
                <a:srgbClr val="C8D2D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tage1_number"/>
          <p:cNvSpPr>
            <a:spLocks noGrp="1"/>
          </p:cNvSpPr>
          <p:nvPr/>
        </p:nvSpPr>
        <p:spPr>
          <a:xfrm>
            <a:off x="1028700" y="31623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34D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4D8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0" name="stage1_title"/>
          <p:cNvSpPr>
            <a:spLocks noGrp="1"/>
          </p:cNvSpPr>
          <p:nvPr/>
        </p:nvSpPr>
        <p:spPr>
          <a:xfrm>
            <a:off x="1828800" y="3048000"/>
            <a:ext cx="361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latin typeface="Noto Sans CJK SC"/>
                <a:ea typeface="Noto Sans CJK SC"/>
                <a:cs typeface="Noto Sans CJK SC"/>
              </a:rPr>
              <a:t>全景感知</a:t>
            </a:r>
          </a:p>
        </p:txBody>
      </p:sp>
      <p:sp>
        <p:nvSpPr>
          <p:cNvPr id="11" name="stage1_body"/>
          <p:cNvSpPr>
            <a:spLocks noGrp="1"/>
          </p:cNvSpPr>
          <p:nvPr/>
        </p:nvSpPr>
        <p:spPr>
          <a:xfrm>
            <a:off x="1028700" y="3886200"/>
            <a:ext cx="5334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D8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D8EAF4"/>
                </a:solidFill>
                <a:latin typeface="Noto Sans CJK SC"/>
                <a:ea typeface="Noto Sans CJK SC"/>
                <a:cs typeface="Noto Sans CJK SC"/>
              </a:rPr>
              <a:t>360°视频与环境声音</a:t>
            </a:r>
          </a:p>
          <a:p>
            <a:pPr algn="l">
              <a:defRPr sz="1200" b="0">
                <a:solidFill>
                  <a:srgbClr val="D8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D8EAF4"/>
                </a:solidFill>
                <a:latin typeface="Noto Sans CJK SC"/>
                <a:ea typeface="Noto Sans CJK SC"/>
                <a:cs typeface="Noto Sans CJK SC"/>
              </a:rPr>
              <a:t>前后左右同步采集</a:t>
            </a:r>
          </a:p>
        </p:txBody>
      </p:sp>
      <p:sp>
        <p:nvSpPr>
          <p:cNvPr id="12" name="stage2_number"/>
          <p:cNvSpPr>
            <a:spLocks noGrp="1"/>
          </p:cNvSpPr>
          <p:nvPr/>
        </p:nvSpPr>
        <p:spPr>
          <a:xfrm>
            <a:off x="9105900" y="31623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B79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794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stage2_title"/>
          <p:cNvSpPr>
            <a:spLocks noGrp="1"/>
          </p:cNvSpPr>
          <p:nvPr/>
        </p:nvSpPr>
        <p:spPr>
          <a:xfrm>
            <a:off x="9906000" y="3048000"/>
            <a:ext cx="4000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latin typeface="Noto Sans CJK SC"/>
                <a:ea typeface="Noto Sans CJK SC"/>
                <a:cs typeface="Noto Sans CJK SC"/>
              </a:rPr>
              <a:t>多模态理解</a:t>
            </a:r>
          </a:p>
        </p:txBody>
      </p:sp>
      <p:sp>
        <p:nvSpPr>
          <p:cNvPr id="14" name="stage2_model"/>
          <p:cNvSpPr>
            <a:spLocks noGrp="1"/>
          </p:cNvSpPr>
          <p:nvPr/>
        </p:nvSpPr>
        <p:spPr>
          <a:xfrm>
            <a:off x="9105900" y="3848100"/>
            <a:ext cx="5791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C8B5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700" b="1">
                <a:solidFill>
                  <a:srgbClr val="C8B5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影像</a:t>
            </a:r>
            <a:r>
              <a:rPr lang="en-US" altLang="zh-CN" sz="280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×</a:t>
            </a:r>
            <a:r>
              <a:rPr lang="zh-CN" altLang="en-US" sz="2700" b="1">
                <a:solidFill>
                  <a:srgbClr val="C8B5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声音</a:t>
            </a:r>
            <a:r>
              <a:rPr lang="en-US" altLang="zh-CN" sz="2800">
                <a:solidFill>
                  <a:srgbClr val="C8D2DF"/>
                </a:solidFill>
                <a:latin typeface="Noto Sans CJK SC"/>
                <a:ea typeface="Noto Sans CJK SC"/>
                <a:cs typeface="Noto Sans CJK SC"/>
              </a:rPr>
              <a:t>× </a:t>
            </a:r>
            <a:r>
              <a:rPr sz="2700" b="1">
                <a:solidFill>
                  <a:srgbClr val="C8B5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Qwen-Omni-Realtime</a:t>
            </a:r>
          </a:p>
        </p:txBody>
      </p:sp>
      <p:sp>
        <p:nvSpPr>
          <p:cNvPr id="15" name="stage2_body"/>
          <p:cNvSpPr>
            <a:spLocks noGrp="1"/>
          </p:cNvSpPr>
          <p:nvPr/>
        </p:nvSpPr>
        <p:spPr>
          <a:xfrm>
            <a:off x="8648700" y="4457700"/>
            <a:ext cx="67056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E3DD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E3DDF8"/>
                </a:solidFill>
                <a:latin typeface="Noto Sans CJK SC"/>
                <a:ea typeface="Noto Sans CJK SC"/>
                <a:cs typeface="Noto Sans CJK SC"/>
              </a:rPr>
              <a:t>融合关键帧、声音与目标轨迹</a:t>
            </a:r>
          </a:p>
          <a:p>
            <a:pPr algn="ctr">
              <a:defRPr sz="1200" b="0">
                <a:solidFill>
                  <a:srgbClr val="E3DD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E3DDF8"/>
                </a:solidFill>
                <a:latin typeface="Noto Sans CJK SC"/>
                <a:ea typeface="Noto Sans CJK SC"/>
                <a:cs typeface="Noto Sans CJK SC"/>
              </a:rPr>
              <a:t>生成风险判断与行动建议</a:t>
            </a:r>
          </a:p>
        </p:txBody>
      </p:sp>
      <p:sp>
        <p:nvSpPr>
          <p:cNvPr id="16" name="stage3_number"/>
          <p:cNvSpPr>
            <a:spLocks noGrp="1"/>
          </p:cNvSpPr>
          <p:nvPr/>
        </p:nvSpPr>
        <p:spPr>
          <a:xfrm>
            <a:off x="17526000" y="31623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F9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9D4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stage3_title"/>
          <p:cNvSpPr>
            <a:spLocks noGrp="1"/>
          </p:cNvSpPr>
          <p:nvPr/>
        </p:nvSpPr>
        <p:spPr>
          <a:xfrm>
            <a:off x="18326100" y="3048000"/>
            <a:ext cx="361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latin typeface="Noto Sans CJK SC"/>
                <a:ea typeface="Noto Sans CJK SC"/>
                <a:cs typeface="Noto Sans CJK SC"/>
              </a:rPr>
              <a:t>智能提示</a:t>
            </a:r>
          </a:p>
        </p:txBody>
      </p:sp>
      <p:sp>
        <p:nvSpPr>
          <p:cNvPr id="18" name="stage3_body"/>
          <p:cNvSpPr>
            <a:spLocks noGrp="1"/>
          </p:cNvSpPr>
          <p:nvPr/>
        </p:nvSpPr>
        <p:spPr>
          <a:xfrm>
            <a:off x="17526000" y="3886200"/>
            <a:ext cx="6210300" cy="20684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FFE4C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>
                <a:solidFill>
                  <a:srgbClr val="FFE4CC"/>
                </a:solidFill>
                <a:latin typeface="Noto Sans CJK SC"/>
                <a:ea typeface="Noto Sans CJK SC"/>
                <a:cs typeface="Noto Sans CJK SC"/>
              </a:rPr>
              <a:t>方向箭头、文字与镜腿振动</a:t>
            </a:r>
            <a:endParaRPr lang="en-US" sz="2400">
              <a:solidFill>
                <a:srgbClr val="FFE4CC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200" b="0">
                <a:solidFill>
                  <a:srgbClr val="FFE4C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>
                <a:solidFill>
                  <a:srgbClr val="FFE4CC"/>
                </a:solidFill>
                <a:latin typeface="Noto Sans CJK SC"/>
                <a:ea typeface="Noto Sans CJK SC"/>
                <a:cs typeface="Noto Sans CJK SC"/>
              </a:rPr>
              <a:t>仅</a:t>
            </a:r>
            <a:r>
              <a:rPr sz="2400">
                <a:solidFill>
                  <a:srgbClr val="FFE4CC"/>
                </a:solidFill>
                <a:latin typeface="Noto Sans CJK SC"/>
                <a:ea typeface="Noto Sans CJK SC"/>
                <a:cs typeface="Noto Sans CJK SC"/>
              </a:rPr>
              <a:t>呈现当前关键风险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11125201"/>
            <a:ext cx="22326600" cy="19050"/>
          </a:xfrm>
          <a:prstGeom prst="rect">
            <a:avLst/>
          </a:prstGeom>
          <a:solidFill>
            <a:srgbClr val="FFFFFF">
              <a:alpha val="22000"/>
            </a:srgbClr>
          </a:solidFill>
          <a:ln w="0">
            <a:noFill/>
          </a:ln>
        </p:spPr>
      </p:sp>
      <p:sp>
        <p:nvSpPr>
          <p:cNvPr id="20" name="value1"/>
          <p:cNvSpPr>
            <a:spLocks noGrp="1"/>
          </p:cNvSpPr>
          <p:nvPr/>
        </p:nvSpPr>
        <p:spPr>
          <a:xfrm>
            <a:off x="1409700" y="11391900"/>
            <a:ext cx="1638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34D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34D8FF"/>
                </a:solidFill>
                <a:latin typeface="Noto Sans CJK SC"/>
                <a:ea typeface="Noto Sans CJK SC"/>
                <a:cs typeface="Noto Sans CJK SC"/>
              </a:rPr>
              <a:t>看全</a:t>
            </a:r>
          </a:p>
        </p:txBody>
      </p:sp>
      <p:sp>
        <p:nvSpPr>
          <p:cNvPr id="21" name="value1_desc"/>
          <p:cNvSpPr>
            <a:spLocks noGrp="1"/>
          </p:cNvSpPr>
          <p:nvPr/>
        </p:nvSpPr>
        <p:spPr>
          <a:xfrm>
            <a:off x="2857500" y="1139190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rPr>
              <a:t>覆盖侧后方盲区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562851" y="11372850"/>
            <a:ext cx="19050" cy="609600"/>
          </a:xfrm>
          <a:prstGeom prst="rect">
            <a:avLst/>
          </a:prstGeom>
          <a:solidFill>
            <a:srgbClr val="FFFFFF">
              <a:alpha val="28000"/>
            </a:srgbClr>
          </a:solidFill>
          <a:ln w="0">
            <a:noFill/>
          </a:ln>
        </p:spPr>
      </p:sp>
      <p:sp>
        <p:nvSpPr>
          <p:cNvPr id="23" name="value2"/>
          <p:cNvSpPr>
            <a:spLocks noGrp="1"/>
          </p:cNvSpPr>
          <p:nvPr/>
        </p:nvSpPr>
        <p:spPr>
          <a:xfrm>
            <a:off x="8267700" y="11391900"/>
            <a:ext cx="1638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B79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794FF"/>
                </a:solidFill>
                <a:latin typeface="Noto Sans CJK SC"/>
                <a:ea typeface="Noto Sans CJK SC"/>
                <a:cs typeface="Noto Sans CJK SC"/>
              </a:rPr>
              <a:t>看懂</a:t>
            </a:r>
          </a:p>
        </p:txBody>
      </p:sp>
      <p:sp>
        <p:nvSpPr>
          <p:cNvPr id="24" name="value2_desc"/>
          <p:cNvSpPr>
            <a:spLocks noGrp="1"/>
          </p:cNvSpPr>
          <p:nvPr/>
        </p:nvSpPr>
        <p:spPr>
          <a:xfrm>
            <a:off x="9715500" y="1139190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dirty="0" err="1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rPr>
              <a:t>形成结构化风险事件</a:t>
            </a:r>
            <a:endParaRPr sz="2550" dirty="0">
              <a:solidFill>
                <a:srgbClr val="EEF4F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011401" y="11372850"/>
            <a:ext cx="19050" cy="609600"/>
          </a:xfrm>
          <a:prstGeom prst="rect">
            <a:avLst/>
          </a:prstGeom>
          <a:solidFill>
            <a:srgbClr val="FFFFFF">
              <a:alpha val="28000"/>
            </a:srgbClr>
          </a:solidFill>
          <a:ln w="0">
            <a:noFill/>
          </a:ln>
        </p:spPr>
      </p:sp>
      <p:sp>
        <p:nvSpPr>
          <p:cNvPr id="26" name="value3"/>
          <p:cNvSpPr>
            <a:spLocks noGrp="1"/>
          </p:cNvSpPr>
          <p:nvPr/>
        </p:nvSpPr>
        <p:spPr>
          <a:xfrm>
            <a:off x="15697200" y="11391900"/>
            <a:ext cx="1638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F9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9D47"/>
                </a:solidFill>
                <a:latin typeface="Noto Sans CJK SC"/>
                <a:ea typeface="Noto Sans CJK SC"/>
                <a:cs typeface="Noto Sans CJK SC"/>
              </a:rPr>
              <a:t>提示</a:t>
            </a:r>
          </a:p>
        </p:txBody>
      </p:sp>
      <p:sp>
        <p:nvSpPr>
          <p:cNvPr id="27" name="value3_desc"/>
          <p:cNvSpPr>
            <a:spLocks noGrp="1"/>
          </p:cNvSpPr>
          <p:nvPr/>
        </p:nvSpPr>
        <p:spPr>
          <a:xfrm>
            <a:off x="17145000" y="1139190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>
                <a:solidFill>
                  <a:srgbClr val="EEF4F8"/>
                </a:solidFill>
                <a:latin typeface="Noto Sans CJK SC"/>
                <a:ea typeface="Noto Sans CJK SC"/>
                <a:cs typeface="Noto Sans CJK SC"/>
              </a:rPr>
              <a:t>及时给出方向与行动建议</a:t>
            </a:r>
          </a:p>
        </p:txBody>
      </p:sp>
      <p:sp>
        <p:nvSpPr>
          <p:cNvPr id="28" name="footnote"/>
          <p:cNvSpPr>
            <a:spLocks noGrp="1"/>
          </p:cNvSpPr>
          <p:nvPr/>
        </p:nvSpPr>
        <p:spPr>
          <a:xfrm>
            <a:off x="1409700" y="12382500"/>
            <a:ext cx="21564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AEB8C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dirty="0" err="1">
                <a:solidFill>
                  <a:srgbClr val="AEB8C4"/>
                </a:solidFill>
                <a:latin typeface="Noto Sans CJK SC"/>
                <a:ea typeface="Noto Sans CJK SC"/>
                <a:cs typeface="Noto Sans CJK SC"/>
              </a:rPr>
              <a:t>端侧完成视角切分、检测与跟踪。大模型仅处理关键帧和结构化事件，降低带宽与响应时延</a:t>
            </a:r>
            <a:r>
              <a:rPr sz="2100" dirty="0">
                <a:solidFill>
                  <a:srgbClr val="AEB8C4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pic>
        <p:nvPicPr>
          <p:cNvPr id="30" name="Image 2" descr="/mnt/data/right_visual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456" y="8342316"/>
            <a:ext cx="3915088" cy="282019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CB4E0F-CA67-D500-EFCD-7A9DB020E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2514" y="5044788"/>
            <a:ext cx="5683885" cy="53996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7C6F79-2C6E-80C8-443A-B879E9C5B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2499" y="6962797"/>
            <a:ext cx="3700649" cy="32823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57D9CC-DD5B-145E-EA09-9BACEFF53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10477" y="6103925"/>
            <a:ext cx="5099774" cy="4649792"/>
          </a:xfrm>
          <a:prstGeom prst="rect">
            <a:avLst/>
          </a:prstGeom>
        </p:spPr>
      </p:pic>
      <p:sp>
        <p:nvSpPr>
          <p:cNvPr id="10" name="sloganLead">
            <a:extLst>
              <a:ext uri="{FF2B5EF4-FFF2-40B4-BE49-F238E27FC236}">
                <a16:creationId xmlns:a16="http://schemas.microsoft.com/office/drawing/2014/main" id="{270A2B18-D540-4638-D2A0-A98319F5BBD7}"/>
              </a:ext>
            </a:extLst>
          </p:cNvPr>
          <p:cNvSpPr>
            <a:spLocks noGrp="1"/>
          </p:cNvSpPr>
          <p:nvPr/>
        </p:nvSpPr>
        <p:spPr>
          <a:xfrm>
            <a:off x="8299940" y="837728"/>
            <a:ext cx="13417793" cy="231177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0" b="1" i="0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让每一声</a:t>
            </a:r>
            <a:r>
              <a:rPr sz="6600" b="1" i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</a:t>
            </a:r>
            <a:r>
              <a:rPr lang="zh-CN" altLang="en-US" sz="6600" b="1" dirty="0">
                <a:solidFill>
                  <a:srgbClr val="FFC000"/>
                </a:solidFill>
                <a:latin typeface="Noto Sans CJK SC"/>
                <a:ea typeface="Noto Sans CJK SC"/>
                <a:cs typeface="Noto Sans CJK SC"/>
              </a:rPr>
              <a:t>都有方向</a:t>
            </a:r>
            <a:endParaRPr lang="en-US" altLang="zh-CN" sz="6600" b="1" dirty="0">
              <a:solidFill>
                <a:srgbClr val="FFC00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A32E60-4A23-7898-248D-FA92B58ECBD7}"/>
              </a:ext>
            </a:extLst>
          </p:cNvPr>
          <p:cNvSpPr/>
          <p:nvPr/>
        </p:nvSpPr>
        <p:spPr>
          <a:xfrm>
            <a:off x="4577530" y="2645146"/>
            <a:ext cx="17691061" cy="28346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defRPr sz="2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br>
              <a:rPr lang="en-US" altLang="zh-CN" sz="14400" b="1" i="1" dirty="0">
                <a:solidFill>
                  <a:srgbClr val="FFC000"/>
                </a:solidFill>
                <a:latin typeface="Noto Sans CJK SC"/>
                <a:ea typeface="Noto Sans CJK SC"/>
                <a:cs typeface="Noto Sans CJK SC"/>
              </a:rPr>
            </a:br>
            <a:r>
              <a:rPr lang="zh-CN" altLang="zh-CN" sz="5400" b="1" dirty="0"/>
              <a:t>Bold Vison 360： Sound, with a sense of direction.</a:t>
            </a:r>
            <a:endParaRPr lang="zh-CN" altLang="zh-CN" sz="4000" b="1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MiSans VF Heavy"/>
        <a:ea typeface="MiSans VF Heavy"/>
        <a:cs typeface="MiSans VF Heavy"/>
      </a:majorFont>
      <a:minorFont>
        <a:latin typeface="MiSans VF Heavy"/>
        <a:ea typeface="MiSans VF Heavy"/>
        <a:cs typeface="MiSans VF Heavy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iSans VF Regular"/>
            <a:ea typeface="MiSans VF Regular"/>
            <a:cs typeface="MiSans VF Regular"/>
            <a:sym typeface="MiSans V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iSans VF Regular"/>
            <a:ea typeface="MiSans VF Regular"/>
            <a:cs typeface="MiSans VF Regular"/>
            <a:sym typeface="MiSans V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MiSans VF Heavy"/>
        <a:ea typeface="MiSans VF Heavy"/>
        <a:cs typeface="MiSans VF Heavy"/>
      </a:majorFont>
      <a:minorFont>
        <a:latin typeface="MiSans VF Heavy"/>
        <a:ea typeface="MiSans VF Heavy"/>
        <a:cs typeface="MiSans VF Heavy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iSans VF Regular"/>
            <a:ea typeface="MiSans VF Regular"/>
            <a:cs typeface="MiSans VF Regular"/>
            <a:sym typeface="MiSans V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iSans VF Regular"/>
            <a:ea typeface="MiSans VF Regular"/>
            <a:cs typeface="MiSans VF Regular"/>
            <a:sym typeface="MiSans V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339</Words>
  <Application>Microsoft Macintosh PowerPoint</Application>
  <PresentationFormat>自定义</PresentationFormat>
  <Paragraphs>76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方正楷体_GB2312</vt:lpstr>
      <vt:lpstr>MiSans VF Heavy</vt:lpstr>
      <vt:lpstr>MISANS VF MEDIUM</vt:lpstr>
      <vt:lpstr>MiSans VF Regular</vt:lpstr>
      <vt:lpstr>Noto Sans CJK SC</vt:lpstr>
      <vt:lpstr>Poppins Bold</vt:lpstr>
      <vt:lpstr>Poppins Regular</vt:lpstr>
      <vt:lpstr>Arial</vt:lpstr>
      <vt:lpstr>Cambria Math</vt:lpstr>
      <vt:lpstr>Marlett</vt:lpstr>
      <vt:lpstr>Poppins Medium</vt:lpstr>
      <vt:lpstr>20_BasicBlack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tangxu</dc:creator>
  <cp:lastModifiedBy>Ethan Winters</cp:lastModifiedBy>
  <cp:revision>142</cp:revision>
  <dcterms:created xsi:type="dcterms:W3CDTF">2026-09-23T14:19:31Z</dcterms:created>
  <dcterms:modified xsi:type="dcterms:W3CDTF">2026-09-23T15:58:30Z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C6CB1A7C29664BC5BFEB0B10AD86624F_12</vt:lpwstr>
  </property>
  <property fmtid="{D5CDD505-2E9C-101B-9397-08002B2CF9AE}" pid="3" name="KSOProductBuildVer">
    <vt:lpwstr>2052-12.1.0.29161</vt:lpwstr>
  </property>
</Properties>
</file>